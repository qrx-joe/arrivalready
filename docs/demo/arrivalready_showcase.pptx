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  <Relationship Id="rId18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各位评委好，这是我们一起做的「迎客验收」。一句话把它说清楚：游客还没到，功课先做齐。接下来几分钟，我们讲清楚这件事怎么做、做到了哪一步。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看问题。一个不懂中文的游客进店吃饭，从找到店到付完钱，要走过七步。很多人卡在第四步、第五步——扫码进去是个全中文小程序，桌上也没有一块牌子写清能不能刷维萨。菜单翻译得再漂亮都没用，客人照样走不完一单。所以我们的结论是：检查必须从头到尾整条查，不能只盯翻译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市面上服务游客的 App 已经够多了，翻译、导游、生成英文页面，都有人做，而且做得不差，我们一个都不碰。我们反过来站在店家这边：客人真的推门进来了，这家店接得住吗。ChatGPT 能干的事我们不抢，我们卖它给不了的东西——标准、证据、复查。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这个产品干的事，说白了就是给店做一次体检。材料交上来，AI 照着检查单一条条看，每条结论都说清自己看的是哪张照片；然后人签字，机器算分，改完复查。AI 只是会看片子的医生，院长永远是人加程序。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分数是这套系统里最不能作假的部分。七个检查维度，权重写死在程序里，AI 只判断过不过，打分这件事它没有权限。标准改版就发新版本，历史分数一个都不改——不然前后对比就没有意义了。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这一页，是我们跟一般 AI 产品最不一样的地方。每条结论都能点开看证据：它看的是哪张照片、框在哪儿，哪些是亲眼看到的、哪些是猜的，全部分开写。我们拿真实模型实测过十条规则，没有证据的项目全部老老实实标 UNKNOWN，一条都没编。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AI 提建议，拍板的永远是人。老板对每条结论四选一：确认、改判、退回、不适用，点过就存档，谁也改不了。问题会变成任务，一路盯下去。请特别注意最后一格——「已解决」必须复测通过，这是系统校验的，不是自己勾的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改完之后复测，是全新跑一遍检查，不是在旧报告上打勾。旧报告原样留着，两份并排一比，哪里改好了、哪里还在犯，清清楚楚。亲眼看到红叉变绿，这一幕比任何漂亮的 AI 建议都有说服力。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演示能这么顺，是底下五条硬规矩撑出来的：分数机器算、结果可复现、中断接着跑、数据各归各家、记录不可改。补一句工程上的实话：离线环境四个测试作业全绿，没有模型 key 也能跑；评分公式用手算样例写进了单元测试，对不上就打回。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是交付清单，也是我们的态度。表上四行已交付，每一行都有测试和实跑证据；两行没完成，我们就明说没完成。还要提醒一句：市场还在验证期，方向有旁证，但店家真愿意掏钱这件事还没被证明——这是我们下一步最优先要做的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最后回到那句话：游客还没到，功课先补齐。我们不是再做一款外国游客助手，我们是帮城市里的店，准备好接住他们。欢迎各位评委现场跑一遍，三步就能起来；断网也有两分钟的视频兜底。谢谢大家。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161de62227d67c28.jpg"/>
  <Relationship Id="rId3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0daba5bd24d4f97d.jpg"/>
  <Relationship Id="rId3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84848e6ad8bc9080.jpg"/>
  <Relationship Id="rId3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6b1e7449b1c4eeef.jpg"/>
  <Relationship Id="rId3" Type="http://schemas.openxmlformats.org/officeDocument/2006/relationships/notesSlide" Target="../notesSlides/notesSlide1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609600" y="534352"/>
            <a:ext cx="2470739" cy="205359"/>
            <a:chOff x="609600" y="534352"/>
            <a:chExt cx="2470739" cy="205359"/>
          </a:xfrm>
        </p:grpSpPr>
        <p:sp>
          <p:nvSpPr>
            <p:cNvPr id="3" name="Rectangle 3"/>
            <p:cNvSpPr/>
            <p:nvPr/>
          </p:nvSpPr>
          <p:spPr>
            <a:xfrm>
              <a:off x="609600" y="552450"/>
              <a:ext cx="95250" cy="95250"/>
            </a:xfrm>
            <a:prstGeom prst="rect">
              <a:avLst/>
            </a:prstGeom>
            <a:solidFill>
              <a:srgbClr val="D5451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813816" y="534352"/>
              <a:ext cx="22665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8B857A"/>
                  </a:solidFill>
                  <a:latin typeface="Arial"/>
                  <a:ea typeface="Microsoft YaHei"/>
                  <a:cs typeface="Arial"/>
                </a:rPr>
                <a:t>ARRIVAL READY · 迎客验收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90550" y="1501140"/>
            <a:ext cx="8394954" cy="2333244"/>
            <a:chOff x="590550" y="1501140"/>
            <a:chExt cx="8394954" cy="2333244"/>
          </a:xfrm>
        </p:grpSpPr>
        <p:sp>
          <p:nvSpPr>
            <p:cNvPr id="6" name="TextBox 6"/>
            <p:cNvSpPr txBox="1"/>
            <p:nvPr/>
          </p:nvSpPr>
          <p:spPr>
            <a:xfrm>
              <a:off x="590550" y="1501140"/>
              <a:ext cx="2752039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111111"/>
                  </a:solidFill>
                  <a:latin typeface="Arial"/>
                  <a:ea typeface="Microsoft YaHei"/>
                  <a:cs typeface="Arial"/>
                </a:rPr>
                <a:t>迎客验收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28650" y="2266950"/>
              <a:ext cx="457200" cy="57150"/>
            </a:xfrm>
            <a:prstGeom prst="rect">
              <a:avLst/>
            </a:prstGeom>
            <a:solidFill>
              <a:srgbClr val="D5451B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8170" y="2576512"/>
              <a:ext cx="352129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41414"/>
                  </a:solidFill>
                  <a:latin typeface="Arial"/>
                  <a:ea typeface="Microsoft YaHei"/>
                  <a:cs typeface="Arial"/>
                </a:rPr>
                <a:t>游客还没到，</a:t>
              </a:r>
              <a:r>
                <a:rPr lang="zh-CN" sz="2250" b="1" dirty="0">
                  <a:solidFill>
                    <a:srgbClr val="D5451B"/>
                  </a:solidFill>
                  <a:latin typeface="Arial"/>
                  <a:ea typeface="Microsoft YaHei"/>
                  <a:cs typeface="Arial"/>
                </a:rPr>
                <a:t>功课先做齐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00456" y="3120390"/>
              <a:ext cx="8385048" cy="71399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850"/>
                </a:lnSpc>
              </a:pPr>
              <a:r>
                <a:rPr lang="zh-CN" sz="1800" dirty="0">
                  <a:solidFill>
                    <a:srgbClr val="57534A"/>
                  </a:solidFill>
                  <a:latin typeface="Arial"/>
                  <a:ea typeface="Microsoft YaHei"/>
                  <a:cs typeface="Arial"/>
                </a:rPr>
                <a:t>在国际访客推门之前，把「找到 → 看懂 → 会买 → 能付 → 能求助」整条链路查一遍。</a:t>
              </a:r>
              <a:r>
                <a:rPr lang="zh-CN" sz="1800" dirty="0">
                  <a:solidFill>
                    <a:srgbClr val="57534A"/>
                  </a:solidFill>
                  <a:latin typeface="Arial"/>
                  <a:ea typeface="Microsoft YaHei"/>
                  <a:cs typeface="Arial"/>
                </a:rPr>
                <a:t>查出来的问题变成任务，盯到</a:t>
              </a:r>
              <a:r>
                <a:rPr lang="zh-CN" sz="1800" b="1" dirty="0">
                  <a:solidFill>
                    <a:srgbClr val="141414"/>
                  </a:solidFill>
                  <a:latin typeface="Arial"/>
                  <a:ea typeface="Microsoft YaHei"/>
                  <a:cs typeface="Arial"/>
                </a:rPr>
                <a:t>改完、复测通过</a:t>
              </a:r>
              <a:r>
                <a:rPr lang="zh-CN" sz="1800" dirty="0">
                  <a:solidFill>
                    <a:srgbClr val="57534A"/>
                  </a:solidFill>
                  <a:latin typeface="Arial"/>
                  <a:ea typeface="Microsoft YaHei"/>
                  <a:cs typeface="Arial"/>
                </a:rPr>
                <a:t>为止。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628650" y="4902994"/>
            <a:ext cx="10934700" cy="1387507"/>
            <a:chOff x="628650" y="4902994"/>
            <a:chExt cx="10934700" cy="1387507"/>
          </a:xfrm>
        </p:grpSpPr>
        <p:sp>
          <p:nvSpPr>
            <p:cNvPr id="11" name="Line 11"/>
            <p:cNvSpPr/>
            <p:nvPr/>
          </p:nvSpPr>
          <p:spPr>
            <a:xfrm>
              <a:off x="876300" y="5219700"/>
              <a:ext cx="10439400" cy="9525"/>
            </a:xfrm>
            <a:custGeom>
              <a:avLst/>
              <a:gdLst/>
              <a:ahLst/>
              <a:cxnLst/>
              <a:rect l="l" t="t" r="r" b="b"/>
              <a:pathLst>
                <a:path w="10439400" h="9525">
                  <a:moveTo>
                    <a:pt x="0" y="0"/>
                  </a:moveTo>
                  <a:lnTo>
                    <a:pt x="10439400" y="0"/>
                  </a:lnTo>
                </a:path>
              </a:pathLst>
            </a:custGeom>
            <a:noFill/>
            <a:ln w="14288">
              <a:solidFill>
                <a:srgbClr val="D9D4C9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628650" y="4972050"/>
              <a:ext cx="495300" cy="495300"/>
            </a:xfrm>
            <a:prstGeom prst="ellipse">
              <a:avLst/>
            </a:prstGeom>
            <a:solidFill>
              <a:srgbClr val="FFFFFF"/>
            </a:solidFill>
            <a:ln w="14288">
              <a:solidFill>
                <a:srgbClr val="D9D4C9"/>
              </a:solidFill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778720" y="5111012"/>
              <a:ext cx="195160" cy="216259"/>
              <a:chOff x="778720" y="5111012"/>
              <a:chExt cx="195160" cy="216259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842963" y="5175250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33338"/>
                    </a:moveTo>
                    <a:cubicBezTo>
                      <a:pt x="0" y="51749"/>
                      <a:pt x="14926" y="66675"/>
                      <a:pt x="33338" y="66675"/>
                    </a:cubicBezTo>
                    <a:cubicBezTo>
                      <a:pt x="51749" y="66675"/>
                      <a:pt x="66675" y="51749"/>
                      <a:pt x="66675" y="33338"/>
                    </a:cubicBezTo>
                    <a:cubicBezTo>
                      <a:pt x="66675" y="14926"/>
                      <a:pt x="51749" y="0"/>
                      <a:pt x="33338" y="0"/>
                    </a:cubicBezTo>
                    <a:cubicBezTo>
                      <a:pt x="14926" y="0"/>
                      <a:pt x="0" y="14926"/>
                      <a:pt x="0" y="33338"/>
                    </a:cubicBezTo>
                  </a:path>
                </a:pathLst>
              </a:custGeom>
              <a:noFill/>
              <a:ln w="19050">
                <a:solidFill>
                  <a:srgbClr val="141414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778720" y="5111012"/>
                <a:ext cx="195160" cy="216259"/>
              </a:xfrm>
              <a:custGeom>
                <a:avLst/>
                <a:gdLst/>
                <a:ahLst/>
                <a:cxnLst/>
                <a:rect l="l" t="t" r="r" b="b"/>
                <a:pathLst>
                  <a:path w="195160" h="216259">
                    <a:moveTo>
                      <a:pt x="160444" y="160440"/>
                    </a:moveTo>
                    <a:lnTo>
                      <a:pt x="113293" y="207590"/>
                    </a:lnTo>
                    <a:cubicBezTo>
                      <a:pt x="104615" y="216259"/>
                      <a:pt x="90556" y="216259"/>
                      <a:pt x="81878" y="207590"/>
                    </a:cubicBezTo>
                    <a:lnTo>
                      <a:pt x="34716" y="160440"/>
                    </a:lnTo>
                    <a:cubicBezTo>
                      <a:pt x="0" y="125722"/>
                      <a:pt x="1" y="69434"/>
                      <a:pt x="34719" y="34717"/>
                    </a:cubicBezTo>
                    <a:cubicBezTo>
                      <a:pt x="69436" y="0"/>
                      <a:pt x="125724" y="0"/>
                      <a:pt x="160441" y="34717"/>
                    </a:cubicBezTo>
                    <a:cubicBezTo>
                      <a:pt x="195159" y="69434"/>
                      <a:pt x="195160" y="125722"/>
                      <a:pt x="160444" y="160440"/>
                    </a:cubicBezTo>
                  </a:path>
                </a:pathLst>
              </a:custGeom>
              <a:noFill/>
              <a:ln w="19050">
                <a:solidFill>
                  <a:srgbClr val="141414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708660" y="56045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7534A"/>
                  </a:solidFill>
                  <a:latin typeface="Arial"/>
                  <a:ea typeface="Microsoft YaHei"/>
                  <a:cs typeface="Arial"/>
                </a:rPr>
                <a:t>发现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2371725" y="4972050"/>
              <a:ext cx="495300" cy="495300"/>
            </a:xfrm>
            <a:prstGeom prst="ellipse">
              <a:avLst/>
            </a:prstGeom>
            <a:solidFill>
              <a:srgbClr val="FFFFFF"/>
            </a:solidFill>
            <a:ln w="14288">
              <a:solidFill>
                <a:srgbClr val="D9D4C9"/>
              </a:solidFill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2530475" y="5119688"/>
              <a:ext cx="177800" cy="188913"/>
              <a:chOff x="2530475" y="5119688"/>
              <a:chExt cx="177800" cy="188913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2530475" y="5157148"/>
                <a:ext cx="55563" cy="73665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73665">
                    <a:moveTo>
                      <a:pt x="55563" y="0"/>
                    </a:moveTo>
                    <a:cubicBezTo>
                      <a:pt x="55563" y="49095"/>
                      <a:pt x="30682" y="73665"/>
                      <a:pt x="0" y="73665"/>
                    </a:cubicBezTo>
                  </a:path>
                </a:pathLst>
              </a:custGeom>
              <a:noFill/>
              <a:ln w="19050">
                <a:solidFill>
                  <a:srgbClr val="141414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2530475" y="5157148"/>
                <a:ext cx="777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7788" h="9525">
                    <a:moveTo>
                      <a:pt x="0" y="0"/>
                    </a:moveTo>
                    <a:lnTo>
                      <a:pt x="77788" y="0"/>
                    </a:lnTo>
                  </a:path>
                </a:pathLst>
              </a:custGeom>
              <a:noFill/>
              <a:ln w="19050">
                <a:solidFill>
                  <a:srgbClr val="141414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2541588" y="518636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0"/>
                    </a:moveTo>
                    <a:cubicBezTo>
                      <a:pt x="0" y="23825"/>
                      <a:pt x="25025" y="43428"/>
                      <a:pt x="66675" y="44450"/>
                    </a:cubicBezTo>
                  </a:path>
                </a:pathLst>
              </a:custGeom>
              <a:noFill/>
              <a:ln w="19050">
                <a:solidFill>
                  <a:srgbClr val="141414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2619375" y="5208588"/>
                <a:ext cx="88900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100013">
                    <a:moveTo>
                      <a:pt x="0" y="100013"/>
                    </a:moveTo>
                    <a:lnTo>
                      <a:pt x="44450" y="0"/>
                    </a:lnTo>
                    <a:lnTo>
                      <a:pt x="88900" y="100013"/>
                    </a:lnTo>
                  </a:path>
                </a:pathLst>
              </a:custGeom>
              <a:noFill/>
              <a:ln w="19050">
                <a:solidFill>
                  <a:srgbClr val="141414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2629377" y="5286376"/>
                <a:ext cx="6889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8898" h="9525">
                    <a:moveTo>
                      <a:pt x="68898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41414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2560412" y="511968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8812" y="6467"/>
                    </a:lnTo>
                  </a:path>
                </a:pathLst>
              </a:custGeom>
              <a:noFill/>
              <a:ln w="19050">
                <a:solidFill>
                  <a:srgbClr val="141414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2451735" y="56045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7534A"/>
                  </a:solidFill>
                  <a:latin typeface="Arial"/>
                  <a:ea typeface="Microsoft YaHei"/>
                  <a:cs typeface="Arial"/>
                </a:rPr>
                <a:t>理解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4105275" y="4972050"/>
              <a:ext cx="495300" cy="495300"/>
            </a:xfrm>
            <a:prstGeom prst="ellipse">
              <a:avLst/>
            </a:prstGeom>
            <a:solidFill>
              <a:srgbClr val="FFFFFF"/>
            </a:solidFill>
            <a:ln w="14288">
              <a:solidFill>
                <a:srgbClr val="D9D4C9"/>
              </a:solidFill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4252913" y="5119688"/>
              <a:ext cx="200025" cy="198438"/>
              <a:chOff x="4252913" y="5119688"/>
              <a:chExt cx="200025" cy="198438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4297363" y="5308601"/>
                <a:ext cx="111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9525">
                    <a:moveTo>
                      <a:pt x="0" y="0"/>
                    </a:moveTo>
                    <a:lnTo>
                      <a:pt x="111125" y="0"/>
                    </a:lnTo>
                  </a:path>
                </a:pathLst>
              </a:custGeom>
              <a:noFill/>
              <a:ln w="19050">
                <a:solidFill>
                  <a:srgbClr val="141414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4286250" y="5141913"/>
                <a:ext cx="133350" cy="11113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1113">
                    <a:moveTo>
                      <a:pt x="0" y="11113"/>
                    </a:moveTo>
                    <a:lnTo>
                      <a:pt x="66675" y="0"/>
                    </a:lnTo>
                    <a:lnTo>
                      <a:pt x="133350" y="11113"/>
                    </a:lnTo>
                  </a:path>
                </a:pathLst>
              </a:custGeom>
              <a:noFill/>
              <a:ln w="19050">
                <a:solidFill>
                  <a:srgbClr val="141414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4352925" y="5119688"/>
                <a:ext cx="9525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88913">
                    <a:moveTo>
                      <a:pt x="0" y="0"/>
                    </a:moveTo>
                    <a:lnTo>
                      <a:pt x="0" y="188913"/>
                    </a:lnTo>
                  </a:path>
                </a:pathLst>
              </a:custGeom>
              <a:noFill/>
              <a:ln w="19050">
                <a:solidFill>
                  <a:srgbClr val="141414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4252913" y="5153025"/>
                <a:ext cx="66675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100013">
                    <a:moveTo>
                      <a:pt x="66675" y="66675"/>
                    </a:moveTo>
                    <a:lnTo>
                      <a:pt x="33338" y="0"/>
                    </a:lnTo>
                    <a:lnTo>
                      <a:pt x="0" y="66675"/>
                    </a:lnTo>
                    <a:cubicBezTo>
                      <a:pt x="0" y="85087"/>
                      <a:pt x="14926" y="100013"/>
                      <a:pt x="33338" y="100013"/>
                    </a:cubicBezTo>
                    <a:cubicBezTo>
                      <a:pt x="51749" y="100013"/>
                      <a:pt x="66675" y="85087"/>
                      <a:pt x="66675" y="66675"/>
                    </a:cubicBezTo>
                  </a:path>
                </a:pathLst>
              </a:custGeom>
              <a:noFill/>
              <a:ln w="19050">
                <a:solidFill>
                  <a:srgbClr val="141414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4386263" y="5153025"/>
                <a:ext cx="66675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100013">
                    <a:moveTo>
                      <a:pt x="66675" y="66675"/>
                    </a:moveTo>
                    <a:lnTo>
                      <a:pt x="33338" y="0"/>
                    </a:lnTo>
                    <a:lnTo>
                      <a:pt x="0" y="66675"/>
                    </a:lnTo>
                    <a:cubicBezTo>
                      <a:pt x="0" y="85087"/>
                      <a:pt x="14926" y="100013"/>
                      <a:pt x="33338" y="100013"/>
                    </a:cubicBezTo>
                    <a:cubicBezTo>
                      <a:pt x="51749" y="100013"/>
                      <a:pt x="66675" y="85087"/>
                      <a:pt x="66675" y="66675"/>
                    </a:cubicBezTo>
                  </a:path>
                </a:pathLst>
              </a:custGeom>
              <a:noFill/>
              <a:ln w="19050">
                <a:solidFill>
                  <a:srgbClr val="141414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4185285" y="56045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7534A"/>
                  </a:solidFill>
                  <a:latin typeface="Arial"/>
                  <a:ea typeface="Microsoft YaHei"/>
                  <a:cs typeface="Arial"/>
                </a:rPr>
                <a:t>决策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5848350" y="4972050"/>
              <a:ext cx="495300" cy="4953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D5451B"/>
              </a:solidFill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5995988" y="5108575"/>
              <a:ext cx="188913" cy="222254"/>
              <a:chOff x="5995988" y="5108575"/>
              <a:chExt cx="188913" cy="222254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6051550" y="5119688"/>
                <a:ext cx="33338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111125">
                    <a:moveTo>
                      <a:pt x="0" y="111125"/>
                    </a:moveTo>
                    <a:lnTo>
                      <a:pt x="0" y="16669"/>
                    </a:lnTo>
                    <a:cubicBezTo>
                      <a:pt x="0" y="7463"/>
                      <a:pt x="7463" y="0"/>
                      <a:pt x="16669" y="0"/>
                    </a:cubicBezTo>
                    <a:cubicBezTo>
                      <a:pt x="25875" y="0"/>
                      <a:pt x="33338" y="7463"/>
                      <a:pt x="33338" y="16669"/>
                    </a:cubicBezTo>
                    <a:lnTo>
                      <a:pt x="33338" y="100013"/>
                    </a:lnTo>
                  </a:path>
                </a:pathLst>
              </a:custGeom>
              <a:noFill/>
              <a:ln w="19050">
                <a:solidFill>
                  <a:srgbClr val="D5451B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084888" y="5175250"/>
                <a:ext cx="33338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44450">
                    <a:moveTo>
                      <a:pt x="0" y="38894"/>
                    </a:moveTo>
                    <a:lnTo>
                      <a:pt x="0" y="16669"/>
                    </a:lnTo>
                    <a:cubicBezTo>
                      <a:pt x="0" y="7463"/>
                      <a:pt x="7463" y="0"/>
                      <a:pt x="16669" y="0"/>
                    </a:cubicBezTo>
                    <a:cubicBezTo>
                      <a:pt x="25875" y="0"/>
                      <a:pt x="33338" y="7463"/>
                      <a:pt x="33338" y="16669"/>
                    </a:cubicBezTo>
                    <a:lnTo>
                      <a:pt x="33338" y="44450"/>
                    </a:lnTo>
                  </a:path>
                </a:pathLst>
              </a:custGeom>
              <a:noFill/>
              <a:ln w="19050">
                <a:solidFill>
                  <a:srgbClr val="D5451B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118225" y="5186363"/>
                <a:ext cx="33338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33338">
                    <a:moveTo>
                      <a:pt x="0" y="16669"/>
                    </a:moveTo>
                    <a:cubicBezTo>
                      <a:pt x="0" y="7463"/>
                      <a:pt x="7463" y="0"/>
                      <a:pt x="16669" y="0"/>
                    </a:cubicBezTo>
                    <a:cubicBezTo>
                      <a:pt x="25875" y="0"/>
                      <a:pt x="33338" y="7463"/>
                      <a:pt x="33338" y="16669"/>
                    </a:cubicBezTo>
                    <a:lnTo>
                      <a:pt x="33338" y="33338"/>
                    </a:lnTo>
                  </a:path>
                </a:pathLst>
              </a:custGeom>
              <a:noFill/>
              <a:ln w="19050">
                <a:solidFill>
                  <a:srgbClr val="D5451B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5999496" y="5197475"/>
                <a:ext cx="185405" cy="133354"/>
              </a:xfrm>
              <a:custGeom>
                <a:avLst/>
                <a:gdLst/>
                <a:ahLst/>
                <a:cxnLst/>
                <a:rect l="l" t="t" r="r" b="b"/>
                <a:pathLst>
                  <a:path w="185405" h="133354">
                    <a:moveTo>
                      <a:pt x="152067" y="16669"/>
                    </a:moveTo>
                    <a:cubicBezTo>
                      <a:pt x="152067" y="7463"/>
                      <a:pt x="159530" y="0"/>
                      <a:pt x="168736" y="0"/>
                    </a:cubicBezTo>
                    <a:cubicBezTo>
                      <a:pt x="177942" y="0"/>
                      <a:pt x="185405" y="7463"/>
                      <a:pt x="185405" y="16669"/>
                    </a:cubicBezTo>
                    <a:lnTo>
                      <a:pt x="185405" y="66675"/>
                    </a:lnTo>
                    <a:cubicBezTo>
                      <a:pt x="185405" y="103499"/>
                      <a:pt x="155553" y="133350"/>
                      <a:pt x="118730" y="133350"/>
                    </a:cubicBezTo>
                    <a:lnTo>
                      <a:pt x="96505" y="133350"/>
                    </a:lnTo>
                    <a:lnTo>
                      <a:pt x="98816" y="133350"/>
                    </a:lnTo>
                    <a:cubicBezTo>
                      <a:pt x="76386" y="133354"/>
                      <a:pt x="55457" y="122080"/>
                      <a:pt x="43120" y="103347"/>
                    </a:cubicBezTo>
                    <a:lnTo>
                      <a:pt x="40942" y="100013"/>
                    </a:lnTo>
                    <a:cubicBezTo>
                      <a:pt x="37475" y="94690"/>
                      <a:pt x="25307" y="73476"/>
                      <a:pt x="4426" y="36360"/>
                    </a:cubicBezTo>
                    <a:cubicBezTo>
                      <a:pt x="0" y="28493"/>
                      <a:pt x="2640" y="18532"/>
                      <a:pt x="10382" y="13891"/>
                    </a:cubicBezTo>
                    <a:cubicBezTo>
                      <a:pt x="18542" y="8995"/>
                      <a:pt x="28986" y="10277"/>
                      <a:pt x="35719" y="17002"/>
                    </a:cubicBezTo>
                    <a:lnTo>
                      <a:pt x="52054" y="33338"/>
                    </a:lnTo>
                  </a:path>
                </a:pathLst>
              </a:custGeom>
              <a:noFill/>
              <a:ln w="19050">
                <a:solidFill>
                  <a:srgbClr val="D5451B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007100" y="5108575"/>
                <a:ext cx="11113" cy="11113"/>
              </a:xfrm>
              <a:custGeom>
                <a:avLst/>
                <a:gdLst/>
                <a:ahLst/>
                <a:cxnLst/>
                <a:rect l="l" t="t" r="r" b="b"/>
                <a:pathLst>
                  <a:path w="11113" h="11113">
                    <a:moveTo>
                      <a:pt x="11113" y="11113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D5451B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5995988" y="5164138"/>
                <a:ext cx="1111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13" h="9525">
                    <a:moveTo>
                      <a:pt x="11113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D5451B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118225" y="5108575"/>
                <a:ext cx="11113" cy="11113"/>
              </a:xfrm>
              <a:custGeom>
                <a:avLst/>
                <a:gdLst/>
                <a:ahLst/>
                <a:cxnLst/>
                <a:rect l="l" t="t" r="r" b="b"/>
                <a:pathLst>
                  <a:path w="11113" h="11113">
                    <a:moveTo>
                      <a:pt x="0" y="11113"/>
                    </a:moveTo>
                    <a:lnTo>
                      <a:pt x="11113" y="0"/>
                    </a:lnTo>
                  </a:path>
                </a:pathLst>
              </a:custGeom>
              <a:noFill/>
              <a:ln w="19050">
                <a:solidFill>
                  <a:srgbClr val="D5451B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129338" y="5153025"/>
                <a:ext cx="1111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13" h="9525">
                    <a:moveTo>
                      <a:pt x="0" y="0"/>
                    </a:moveTo>
                    <a:lnTo>
                      <a:pt x="11113" y="0"/>
                    </a:lnTo>
                  </a:path>
                </a:pathLst>
              </a:custGeom>
              <a:noFill/>
              <a:ln w="19050">
                <a:solidFill>
                  <a:srgbClr val="D5451B"/>
                </a:solidFill>
              </a:ln>
            </p:spPr>
          </p:sp>
        </p:grpSp>
        <p:grpSp>
          <p:nvGrpSpPr>
            <p:cNvPr id="46" name="Group 46"/>
            <p:cNvGrpSpPr/>
            <p:nvPr/>
          </p:nvGrpSpPr>
          <p:grpSpPr>
            <a:xfrm>
              <a:off x="6255544" y="4902994"/>
              <a:ext cx="157163" cy="157163"/>
              <a:chOff x="6255544" y="4902994"/>
              <a:chExt cx="157163" cy="157163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6255544" y="4902994"/>
                <a:ext cx="157163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157163" h="157163">
                    <a:moveTo>
                      <a:pt x="0" y="78581"/>
                    </a:moveTo>
                    <a:cubicBezTo>
                      <a:pt x="0" y="121981"/>
                      <a:pt x="35182" y="157163"/>
                      <a:pt x="78581" y="157163"/>
                    </a:cubicBezTo>
                    <a:cubicBezTo>
                      <a:pt x="121981" y="157163"/>
                      <a:pt x="157163" y="121981"/>
                      <a:pt x="157163" y="78581"/>
                    </a:cubicBezTo>
                    <a:cubicBezTo>
                      <a:pt x="157163" y="35182"/>
                      <a:pt x="121981" y="0"/>
                      <a:pt x="78581" y="0"/>
                    </a:cubicBezTo>
                    <a:cubicBezTo>
                      <a:pt x="35182" y="0"/>
                      <a:pt x="0" y="35182"/>
                      <a:pt x="0" y="78581"/>
                    </a:cubicBezTo>
                  </a:path>
                </a:pathLst>
              </a:custGeom>
              <a:noFill/>
              <a:ln w="19050">
                <a:solidFill>
                  <a:srgbClr val="D5451B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316663" y="4964113"/>
                <a:ext cx="349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34925">
                    <a:moveTo>
                      <a:pt x="0" y="0"/>
                    </a:moveTo>
                    <a:lnTo>
                      <a:pt x="34925" y="34925"/>
                    </a:lnTo>
                    <a:moveTo>
                      <a:pt x="34925" y="0"/>
                    </a:moveTo>
                    <a:lnTo>
                      <a:pt x="0" y="34925"/>
                    </a:lnTo>
                  </a:path>
                </a:pathLst>
              </a:custGeom>
              <a:noFill/>
              <a:ln w="19050">
                <a:solidFill>
                  <a:srgbClr val="D5451B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5920283" y="5604510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D5451B"/>
                  </a:solidFill>
                  <a:latin typeface="Arial"/>
                  <a:ea typeface="Microsoft YaHei"/>
                  <a:cs typeface="Arial"/>
                </a:rPr>
                <a:t>行动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7591425" y="4972050"/>
              <a:ext cx="495300" cy="4953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D5451B"/>
              </a:solidFill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7739063" y="5141913"/>
              <a:ext cx="200026" cy="155575"/>
              <a:chOff x="7739063" y="5141913"/>
              <a:chExt cx="200026" cy="155575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7739063" y="5141913"/>
                <a:ext cx="200026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55575">
                    <a:moveTo>
                      <a:pt x="0" y="33338"/>
                    </a:moveTo>
                    <a:cubicBezTo>
                      <a:pt x="0" y="14926"/>
                      <a:pt x="14926" y="0"/>
                      <a:pt x="33338" y="0"/>
                    </a:cubicBezTo>
                    <a:lnTo>
                      <a:pt x="166688" y="0"/>
                    </a:lnTo>
                    <a:cubicBezTo>
                      <a:pt x="185100" y="0"/>
                      <a:pt x="200026" y="14926"/>
                      <a:pt x="200026" y="33338"/>
                    </a:cubicBezTo>
                    <a:lnTo>
                      <a:pt x="200026" y="122238"/>
                    </a:lnTo>
                    <a:cubicBezTo>
                      <a:pt x="200026" y="140650"/>
                      <a:pt x="185100" y="155575"/>
                      <a:pt x="166688" y="155575"/>
                    </a:cubicBezTo>
                    <a:lnTo>
                      <a:pt x="33338" y="155575"/>
                    </a:lnTo>
                    <a:cubicBezTo>
                      <a:pt x="14926" y="155575"/>
                      <a:pt x="0" y="140650"/>
                      <a:pt x="0" y="122238"/>
                    </a:cubicBezTo>
                    <a:lnTo>
                      <a:pt x="0" y="33338"/>
                    </a:lnTo>
                  </a:path>
                </a:pathLst>
              </a:custGeom>
              <a:noFill/>
              <a:ln w="19050">
                <a:solidFill>
                  <a:srgbClr val="D5451B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7739063" y="5197475"/>
                <a:ext cx="20002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9525">
                    <a:moveTo>
                      <a:pt x="0" y="0"/>
                    </a:moveTo>
                    <a:lnTo>
                      <a:pt x="200026" y="0"/>
                    </a:lnTo>
                  </a:path>
                </a:pathLst>
              </a:custGeom>
              <a:noFill/>
              <a:ln w="19050">
                <a:solidFill>
                  <a:srgbClr val="D5451B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7783513" y="525303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19050">
                <a:solidFill>
                  <a:srgbClr val="D5451B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7827963" y="5253038"/>
                <a:ext cx="222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9525">
                    <a:moveTo>
                      <a:pt x="0" y="0"/>
                    </a:moveTo>
                    <a:lnTo>
                      <a:pt x="22225" y="0"/>
                    </a:lnTo>
                  </a:path>
                </a:pathLst>
              </a:custGeom>
              <a:noFill/>
              <a:ln w="19050">
                <a:solidFill>
                  <a:srgbClr val="D5451B"/>
                </a:solidFill>
              </a:ln>
            </p:spPr>
          </p:sp>
        </p:grpSp>
        <p:grpSp>
          <p:nvGrpSpPr>
            <p:cNvPr id="56" name="Group 56"/>
            <p:cNvGrpSpPr/>
            <p:nvPr/>
          </p:nvGrpSpPr>
          <p:grpSpPr>
            <a:xfrm>
              <a:off x="7998619" y="4902994"/>
              <a:ext cx="157163" cy="157163"/>
              <a:chOff x="7998619" y="4902994"/>
              <a:chExt cx="157163" cy="157163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7998619" y="4902994"/>
                <a:ext cx="157163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157163" h="157163">
                    <a:moveTo>
                      <a:pt x="0" y="78581"/>
                    </a:moveTo>
                    <a:cubicBezTo>
                      <a:pt x="0" y="121981"/>
                      <a:pt x="35182" y="157163"/>
                      <a:pt x="78581" y="157163"/>
                    </a:cubicBezTo>
                    <a:cubicBezTo>
                      <a:pt x="121981" y="157163"/>
                      <a:pt x="157163" y="121981"/>
                      <a:pt x="157163" y="78581"/>
                    </a:cubicBezTo>
                    <a:cubicBezTo>
                      <a:pt x="157163" y="35182"/>
                      <a:pt x="121981" y="0"/>
                      <a:pt x="78581" y="0"/>
                    </a:cubicBezTo>
                    <a:cubicBezTo>
                      <a:pt x="35182" y="0"/>
                      <a:pt x="0" y="35182"/>
                      <a:pt x="0" y="78581"/>
                    </a:cubicBezTo>
                  </a:path>
                </a:pathLst>
              </a:custGeom>
              <a:noFill/>
              <a:ln w="19050">
                <a:solidFill>
                  <a:srgbClr val="D5451B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059738" y="4964113"/>
                <a:ext cx="349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34925">
                    <a:moveTo>
                      <a:pt x="0" y="0"/>
                    </a:moveTo>
                    <a:lnTo>
                      <a:pt x="34925" y="34925"/>
                    </a:lnTo>
                    <a:moveTo>
                      <a:pt x="34925" y="0"/>
                    </a:moveTo>
                    <a:lnTo>
                      <a:pt x="0" y="34925"/>
                    </a:lnTo>
                  </a:path>
                </a:pathLst>
              </a:custGeom>
              <a:noFill/>
              <a:ln w="19050">
                <a:solidFill>
                  <a:srgbClr val="D5451B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7663358" y="5604510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D5451B"/>
                  </a:solidFill>
                  <a:latin typeface="Arial"/>
                  <a:ea typeface="Microsoft YaHei"/>
                  <a:cs typeface="Arial"/>
                </a:rPr>
                <a:t>支付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9324975" y="4972050"/>
              <a:ext cx="495300" cy="495300"/>
            </a:xfrm>
            <a:prstGeom prst="ellipse">
              <a:avLst/>
            </a:prstGeom>
            <a:solidFill>
              <a:srgbClr val="FFFFFF"/>
            </a:solidFill>
            <a:ln w="14288">
              <a:solidFill>
                <a:srgbClr val="D9D4C9"/>
              </a:solidFill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9472613" y="5119688"/>
              <a:ext cx="200026" cy="200026"/>
              <a:chOff x="9472613" y="5119688"/>
              <a:chExt cx="200026" cy="200026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9528175" y="5175250"/>
                <a:ext cx="889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8900">
                    <a:moveTo>
                      <a:pt x="0" y="44450"/>
                    </a:moveTo>
                    <a:cubicBezTo>
                      <a:pt x="0" y="68999"/>
                      <a:pt x="19901" y="88900"/>
                      <a:pt x="44450" y="88900"/>
                    </a:cubicBezTo>
                    <a:cubicBezTo>
                      <a:pt x="68999" y="88900"/>
                      <a:pt x="88900" y="68999"/>
                      <a:pt x="88900" y="44450"/>
                    </a:cubicBezTo>
                    <a:cubicBezTo>
                      <a:pt x="88900" y="19901"/>
                      <a:pt x="68999" y="0"/>
                      <a:pt x="44450" y="0"/>
                    </a:cubicBezTo>
                    <a:cubicBezTo>
                      <a:pt x="19901" y="0"/>
                      <a:pt x="0" y="19901"/>
                      <a:pt x="0" y="44450"/>
                    </a:cubicBezTo>
                  </a:path>
                </a:pathLst>
              </a:custGeom>
              <a:noFill/>
              <a:ln w="19050">
                <a:solidFill>
                  <a:srgbClr val="141414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9472613" y="51196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19050">
                <a:solidFill>
                  <a:srgbClr val="141414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9605963" y="5253038"/>
                <a:ext cx="37227" cy="37227"/>
              </a:xfrm>
              <a:custGeom>
                <a:avLst/>
                <a:gdLst/>
                <a:ahLst/>
                <a:cxnLst/>
                <a:rect l="l" t="t" r="r" b="b"/>
                <a:pathLst>
                  <a:path w="37227" h="37227">
                    <a:moveTo>
                      <a:pt x="0" y="0"/>
                    </a:moveTo>
                    <a:lnTo>
                      <a:pt x="37227" y="37227"/>
                    </a:lnTo>
                  </a:path>
                </a:pathLst>
              </a:custGeom>
              <a:noFill/>
              <a:ln w="19050">
                <a:solidFill>
                  <a:srgbClr val="141414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9502061" y="5253038"/>
                <a:ext cx="37227" cy="37227"/>
              </a:xfrm>
              <a:custGeom>
                <a:avLst/>
                <a:gdLst/>
                <a:ahLst/>
                <a:cxnLst/>
                <a:rect l="l" t="t" r="r" b="b"/>
                <a:pathLst>
                  <a:path w="37227" h="37227">
                    <a:moveTo>
                      <a:pt x="37227" y="0"/>
                    </a:moveTo>
                    <a:lnTo>
                      <a:pt x="0" y="37227"/>
                    </a:lnTo>
                  </a:path>
                </a:pathLst>
              </a:custGeom>
              <a:noFill/>
              <a:ln w="19050">
                <a:solidFill>
                  <a:srgbClr val="141414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9502061" y="5149136"/>
                <a:ext cx="37227" cy="37227"/>
              </a:xfrm>
              <a:custGeom>
                <a:avLst/>
                <a:gdLst/>
                <a:ahLst/>
                <a:cxnLst/>
                <a:rect l="l" t="t" r="r" b="b"/>
                <a:pathLst>
                  <a:path w="37227" h="37227">
                    <a:moveTo>
                      <a:pt x="0" y="0"/>
                    </a:moveTo>
                    <a:lnTo>
                      <a:pt x="37227" y="37227"/>
                    </a:lnTo>
                  </a:path>
                </a:pathLst>
              </a:custGeom>
              <a:noFill/>
              <a:ln w="19050">
                <a:solidFill>
                  <a:srgbClr val="141414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9605963" y="5149136"/>
                <a:ext cx="37227" cy="37227"/>
              </a:xfrm>
              <a:custGeom>
                <a:avLst/>
                <a:gdLst/>
                <a:ahLst/>
                <a:cxnLst/>
                <a:rect l="l" t="t" r="r" b="b"/>
                <a:pathLst>
                  <a:path w="37227" h="37227">
                    <a:moveTo>
                      <a:pt x="37227" y="0"/>
                    </a:moveTo>
                    <a:lnTo>
                      <a:pt x="0" y="37227"/>
                    </a:lnTo>
                  </a:path>
                </a:pathLst>
              </a:custGeom>
              <a:noFill/>
              <a:ln w="19050">
                <a:solidFill>
                  <a:srgbClr val="141414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9404985" y="56045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7534A"/>
                  </a:solidFill>
                  <a:latin typeface="Arial"/>
                  <a:ea typeface="Microsoft YaHei"/>
                  <a:cs typeface="Arial"/>
                </a:rPr>
                <a:t>求助</a:t>
              </a:r>
            </a:p>
          </p:txBody>
        </p:sp>
        <p:sp>
          <p:nvSpPr>
            <p:cNvPr id="67" name="Ellipse 67"/>
            <p:cNvSpPr/>
            <p:nvPr/>
          </p:nvSpPr>
          <p:spPr>
            <a:xfrm>
              <a:off x="11068050" y="4972050"/>
              <a:ext cx="495300" cy="495300"/>
            </a:xfrm>
            <a:prstGeom prst="ellipse">
              <a:avLst/>
            </a:prstGeom>
            <a:solidFill>
              <a:srgbClr val="FFFFFF"/>
            </a:solidFill>
            <a:ln w="14288">
              <a:solidFill>
                <a:srgbClr val="D9D4C9"/>
              </a:solidFill>
            </a:ln>
          </p:spPr>
        </p:sp>
        <p:sp>
          <p:nvSpPr>
            <p:cNvPr id="68" name="Freeform 68"/>
            <p:cNvSpPr/>
            <p:nvPr/>
          </p:nvSpPr>
          <p:spPr>
            <a:xfrm>
              <a:off x="11211840" y="5127949"/>
              <a:ext cx="207520" cy="180651"/>
            </a:xfrm>
            <a:custGeom>
              <a:avLst/>
              <a:gdLst/>
              <a:ahLst/>
              <a:cxnLst/>
              <a:rect l="l" t="t" r="r" b="b"/>
              <a:pathLst>
                <a:path w="207520" h="180651">
                  <a:moveTo>
                    <a:pt x="187205" y="98107"/>
                  </a:moveTo>
                  <a:lnTo>
                    <a:pt x="103861" y="180651"/>
                  </a:lnTo>
                  <a:lnTo>
                    <a:pt x="20517" y="98107"/>
                  </a:lnTo>
                  <a:cubicBezTo>
                    <a:pt x="5529" y="83523"/>
                    <a:pt x="0" y="61759"/>
                    <a:pt x="6209" y="41790"/>
                  </a:cubicBezTo>
                  <a:cubicBezTo>
                    <a:pt x="12418" y="21820"/>
                    <a:pt x="29314" y="7029"/>
                    <a:pt x="49929" y="3514"/>
                  </a:cubicBezTo>
                  <a:cubicBezTo>
                    <a:pt x="70544" y="0"/>
                    <a:pt x="91386" y="8358"/>
                    <a:pt x="103861" y="25143"/>
                  </a:cubicBezTo>
                  <a:cubicBezTo>
                    <a:pt x="116388" y="8483"/>
                    <a:pt x="137185" y="235"/>
                    <a:pt x="157725" y="3782"/>
                  </a:cubicBezTo>
                  <a:cubicBezTo>
                    <a:pt x="178266" y="7329"/>
                    <a:pt x="195093" y="22074"/>
                    <a:pt x="201306" y="41971"/>
                  </a:cubicBezTo>
                  <a:cubicBezTo>
                    <a:pt x="207520" y="61867"/>
                    <a:pt x="202075" y="83568"/>
                    <a:pt x="187205" y="98174"/>
                  </a:cubicBezTo>
                </a:path>
              </a:pathLst>
            </a:custGeom>
            <a:noFill/>
            <a:ln w="19050">
              <a:solidFill>
                <a:srgbClr val="141414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11148060" y="56045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7534A"/>
                  </a:solidFill>
                  <a:latin typeface="Arial"/>
                  <a:ea typeface="Microsoft YaHei"/>
                  <a:cs typeface="Arial"/>
                </a:rPr>
                <a:t>离店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69442" y="6026468"/>
              <a:ext cx="43935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7534A"/>
                  </a:solidFill>
                  <a:latin typeface="Arial"/>
                  <a:ea typeface="Microsoft YaHei"/>
                  <a:cs typeface="Arial"/>
                </a:rPr>
                <a:t>国际访客在店里的完整旅程——红叉，是最常卡壳的两步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604266" y="6497002"/>
            <a:ext cx="10983468" cy="205359"/>
            <a:chOff x="604266" y="6497002"/>
            <a:chExt cx="10983468" cy="205359"/>
          </a:xfrm>
        </p:grpSpPr>
        <p:sp>
          <p:nvSpPr>
            <p:cNvPr id="72" name="TextBox 72"/>
            <p:cNvSpPr txBox="1"/>
            <p:nvPr/>
          </p:nvSpPr>
          <p:spPr>
            <a:xfrm>
              <a:off x="604266" y="6497002"/>
              <a:ext cx="22934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857A"/>
                  </a:solidFill>
                  <a:latin typeface="Arial"/>
                  <a:ea typeface="Microsoft YaHei"/>
                  <a:cs typeface="Arial"/>
                </a:rPr>
                <a:t>沪潮涌江赛道 · 比赛演示 · 2026-09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103540" y="64970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8B857A"/>
                  </a:solidFill>
                  <a:latin typeface="Arial"/>
                  <a:ea typeface="Arial"/>
                  <a:cs typeface="Arial"/>
                </a:rPr>
                <a:t>01 / 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98932" y="419100"/>
            <a:ext cx="10988802" cy="1060323"/>
            <a:chOff x="598932" y="419100"/>
            <a:chExt cx="10988802" cy="1060323"/>
          </a:xfrm>
        </p:grpSpPr>
        <p:sp>
          <p:nvSpPr>
            <p:cNvPr id="3" name="Rectangle 3"/>
            <p:cNvSpPr/>
            <p:nvPr/>
          </p:nvSpPr>
          <p:spPr>
            <a:xfrm>
              <a:off x="609600" y="495300"/>
              <a:ext cx="38100" cy="304800"/>
            </a:xfrm>
            <a:prstGeom prst="rect">
              <a:avLst/>
            </a:prstGeom>
            <a:solidFill>
              <a:srgbClr val="D5451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6760" y="419100"/>
              <a:ext cx="596722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11111"/>
                  </a:solidFill>
                  <a:latin typeface="Arial"/>
                  <a:ea typeface="Microsoft YaHei"/>
                  <a:cs typeface="Arial"/>
                </a:rPr>
                <a:t>能翻译文字，不等于能做完一单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925660" y="458152"/>
              <a:ext cx="16620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spc="150" dirty="0">
                  <a:solidFill>
                    <a:srgbClr val="8B857A"/>
                  </a:solidFill>
                  <a:latin typeface="Arial"/>
                  <a:ea typeface="Microsoft YaHei"/>
                  <a:cs typeface="Arial"/>
                </a:rPr>
                <a:t>PART 1 · 问题与定位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8932" y="1068705"/>
              <a:ext cx="88840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141414"/>
                  </a:solidFill>
                  <a:latin typeface="Arial"/>
                  <a:ea typeface="Microsoft YaHei"/>
                  <a:cs typeface="Arial"/>
                </a:rPr>
                <a:t>店留不住客人，多半卡在</a:t>
              </a:r>
              <a:r>
                <a:rPr lang="zh-CN" sz="2100" b="1" dirty="0">
                  <a:solidFill>
                    <a:srgbClr val="141414"/>
                  </a:solidFill>
                  <a:latin typeface="Arial"/>
                  <a:ea typeface="Microsoft YaHei"/>
                  <a:cs typeface="Arial"/>
                </a:rPr>
                <a:t>流程后半段</a:t>
              </a:r>
              <a:r>
                <a:rPr lang="zh-CN" sz="2100" dirty="0">
                  <a:solidFill>
                    <a:srgbClr val="141414"/>
                  </a:solidFill>
                  <a:latin typeface="Arial"/>
                  <a:ea typeface="Microsoft YaHei"/>
                  <a:cs typeface="Arial"/>
                </a:rPr>
                <a:t>——菜单看得懂，小程序扫不进去。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647700" y="2499360"/>
            <a:ext cx="10896600" cy="1244346"/>
            <a:chOff x="647700" y="2499360"/>
            <a:chExt cx="10896600" cy="1244346"/>
          </a:xfrm>
        </p:grpSpPr>
        <p:sp>
          <p:nvSpPr>
            <p:cNvPr id="8" name="Line 8"/>
            <p:cNvSpPr/>
            <p:nvPr/>
          </p:nvSpPr>
          <p:spPr>
            <a:xfrm>
              <a:off x="876300" y="3143250"/>
              <a:ext cx="10439400" cy="9525"/>
            </a:xfrm>
            <a:custGeom>
              <a:avLst/>
              <a:gdLst/>
              <a:ahLst/>
              <a:cxnLst/>
              <a:rect l="l" t="t" r="r" b="b"/>
              <a:pathLst>
                <a:path w="10439400" h="9525">
                  <a:moveTo>
                    <a:pt x="0" y="0"/>
                  </a:moveTo>
                  <a:lnTo>
                    <a:pt x="10439400" y="0"/>
                  </a:lnTo>
                </a:path>
              </a:pathLst>
            </a:custGeom>
            <a:noFill/>
            <a:ln w="14288">
              <a:solidFill>
                <a:srgbClr val="D9D4C9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647700" y="2914650"/>
              <a:ext cx="457200" cy="457200"/>
            </a:xfrm>
            <a:prstGeom prst="ellipse">
              <a:avLst/>
            </a:prstGeom>
            <a:solidFill>
              <a:srgbClr val="FFFFFF"/>
            </a:solidFill>
            <a:ln w="14288">
              <a:solidFill>
                <a:srgbClr val="D9D4C9"/>
              </a:solidFill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792660" y="3050088"/>
              <a:ext cx="167279" cy="185364"/>
              <a:chOff x="792660" y="3050088"/>
              <a:chExt cx="167279" cy="185364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847725" y="310515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19050">
                <a:solidFill>
                  <a:srgbClr val="141414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792660" y="3050088"/>
                <a:ext cx="167279" cy="185364"/>
              </a:xfrm>
              <a:custGeom>
                <a:avLst/>
                <a:gdLst/>
                <a:ahLst/>
                <a:cxnLst/>
                <a:rect l="l" t="t" r="r" b="b"/>
                <a:pathLst>
                  <a:path w="167279" h="185364">
                    <a:moveTo>
                      <a:pt x="137523" y="137519"/>
                    </a:moveTo>
                    <a:lnTo>
                      <a:pt x="97108" y="177934"/>
                    </a:lnTo>
                    <a:cubicBezTo>
                      <a:pt x="89670" y="185364"/>
                      <a:pt x="77619" y="185364"/>
                      <a:pt x="70181" y="177934"/>
                    </a:cubicBezTo>
                    <a:lnTo>
                      <a:pt x="29757" y="137519"/>
                    </a:lnTo>
                    <a:cubicBezTo>
                      <a:pt x="0" y="107761"/>
                      <a:pt x="1" y="59515"/>
                      <a:pt x="29759" y="29757"/>
                    </a:cubicBezTo>
                    <a:cubicBezTo>
                      <a:pt x="59517" y="0"/>
                      <a:pt x="107763" y="0"/>
                      <a:pt x="137521" y="29757"/>
                    </a:cubicBezTo>
                    <a:cubicBezTo>
                      <a:pt x="167279" y="59515"/>
                      <a:pt x="167279" y="107761"/>
                      <a:pt x="137523" y="137519"/>
                    </a:cubicBezTo>
                  </a:path>
                </a:pathLst>
              </a:custGeom>
              <a:noFill/>
              <a:ln w="19050">
                <a:solidFill>
                  <a:srgbClr val="141414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825779" y="24993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8B857A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08660" y="35090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7534A"/>
                  </a:solidFill>
                  <a:latin typeface="Arial"/>
                  <a:ea typeface="Microsoft YaHei"/>
                  <a:cs typeface="Arial"/>
                </a:rPr>
                <a:t>发现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2390775" y="2914650"/>
              <a:ext cx="457200" cy="4572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B7520E"/>
              </a:solidFill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2543175" y="3057525"/>
              <a:ext cx="152400" cy="161925"/>
              <a:chOff x="2543175" y="3057525"/>
              <a:chExt cx="152400" cy="161925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2543175" y="3089634"/>
                <a:ext cx="47625" cy="63141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63141">
                    <a:moveTo>
                      <a:pt x="47625" y="0"/>
                    </a:moveTo>
                    <a:cubicBezTo>
                      <a:pt x="47625" y="42081"/>
                      <a:pt x="26299" y="63141"/>
                      <a:pt x="0" y="63141"/>
                    </a:cubicBezTo>
                  </a:path>
                </a:pathLst>
              </a:custGeom>
              <a:noFill/>
              <a:ln w="19050">
                <a:solidFill>
                  <a:srgbClr val="B7520E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2543175" y="3089634"/>
                <a:ext cx="66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">
                    <a:moveTo>
                      <a:pt x="0" y="0"/>
                    </a:moveTo>
                    <a:lnTo>
                      <a:pt x="66675" y="0"/>
                    </a:lnTo>
                  </a:path>
                </a:pathLst>
              </a:custGeom>
              <a:noFill/>
              <a:ln w="19050">
                <a:solidFill>
                  <a:srgbClr val="B7520E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2552700" y="3114675"/>
                <a:ext cx="5715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38100">
                    <a:moveTo>
                      <a:pt x="0" y="0"/>
                    </a:moveTo>
                    <a:cubicBezTo>
                      <a:pt x="0" y="20422"/>
                      <a:pt x="21450" y="37224"/>
                      <a:pt x="57150" y="38100"/>
                    </a:cubicBezTo>
                  </a:path>
                </a:pathLst>
              </a:custGeom>
              <a:noFill/>
              <a:ln w="19050">
                <a:solidFill>
                  <a:srgbClr val="B7520E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2619375" y="3133725"/>
                <a:ext cx="7620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85725">
                    <a:moveTo>
                      <a:pt x="0" y="85725"/>
                    </a:moveTo>
                    <a:lnTo>
                      <a:pt x="38100" y="0"/>
                    </a:lnTo>
                    <a:lnTo>
                      <a:pt x="76200" y="85725"/>
                    </a:lnTo>
                  </a:path>
                </a:pathLst>
              </a:custGeom>
              <a:noFill/>
              <a:ln w="19050">
                <a:solidFill>
                  <a:srgbClr val="B7520E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2627948" y="3200400"/>
                <a:ext cx="5905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9055" h="9525">
                    <a:moveTo>
                      <a:pt x="59055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B7520E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2568835" y="30575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7553" y="5544"/>
                    </a:lnTo>
                  </a:path>
                </a:pathLst>
              </a:custGeom>
              <a:noFill/>
              <a:ln w="19050">
                <a:solidFill>
                  <a:srgbClr val="B7520E"/>
                </a:solidFill>
              </a:ln>
            </p:spPr>
          </p:sp>
        </p:grpSp>
        <p:grpSp>
          <p:nvGrpSpPr>
            <p:cNvPr id="26" name="Group 26"/>
            <p:cNvGrpSpPr/>
            <p:nvPr/>
          </p:nvGrpSpPr>
          <p:grpSpPr>
            <a:xfrm>
              <a:off x="2748874" y="2840575"/>
              <a:ext cx="160095" cy="137543"/>
              <a:chOff x="2748874" y="2840575"/>
              <a:chExt cx="160095" cy="137543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2828925" y="2890837"/>
                <a:ext cx="95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750">
                    <a:moveTo>
                      <a:pt x="0" y="0"/>
                    </a:moveTo>
                    <a:lnTo>
                      <a:pt x="0" y="31750"/>
                    </a:lnTo>
                  </a:path>
                </a:pathLst>
              </a:custGeom>
              <a:noFill/>
              <a:ln w="19050">
                <a:solidFill>
                  <a:srgbClr val="B7520E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2748874" y="2840575"/>
                <a:ext cx="160095" cy="137543"/>
              </a:xfrm>
              <a:custGeom>
                <a:avLst/>
                <a:gdLst/>
                <a:ahLst/>
                <a:cxnLst/>
                <a:rect l="l" t="t" r="r" b="b"/>
                <a:pathLst>
                  <a:path w="160095" h="137543">
                    <a:moveTo>
                      <a:pt x="67057" y="7328"/>
                    </a:moveTo>
                    <a:lnTo>
                      <a:pt x="2716" y="114754"/>
                    </a:lnTo>
                    <a:cubicBezTo>
                      <a:pt x="16" y="119428"/>
                      <a:pt x="0" y="125183"/>
                      <a:pt x="2672" y="129873"/>
                    </a:cubicBezTo>
                    <a:cubicBezTo>
                      <a:pt x="5344" y="134562"/>
                      <a:pt x="10304" y="137482"/>
                      <a:pt x="15701" y="137543"/>
                    </a:cubicBezTo>
                    <a:lnTo>
                      <a:pt x="144400" y="137543"/>
                    </a:lnTo>
                    <a:cubicBezTo>
                      <a:pt x="149794" y="137480"/>
                      <a:pt x="154751" y="134562"/>
                      <a:pt x="157423" y="129875"/>
                    </a:cubicBezTo>
                    <a:cubicBezTo>
                      <a:pt x="160095" y="125188"/>
                      <a:pt x="160081" y="119436"/>
                      <a:pt x="157386" y="114762"/>
                    </a:cubicBezTo>
                    <a:lnTo>
                      <a:pt x="93044" y="7320"/>
                    </a:lnTo>
                    <a:cubicBezTo>
                      <a:pt x="90291" y="2776"/>
                      <a:pt x="85364" y="0"/>
                      <a:pt x="80051" y="0"/>
                    </a:cubicBezTo>
                    <a:cubicBezTo>
                      <a:pt x="74737" y="0"/>
                      <a:pt x="69810" y="2776"/>
                      <a:pt x="67057" y="7320"/>
                    </a:cubicBezTo>
                  </a:path>
                </a:pathLst>
              </a:custGeom>
              <a:noFill/>
              <a:ln w="19050">
                <a:solidFill>
                  <a:srgbClr val="B7520E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2828925" y="29464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79" y="0"/>
                    </a:lnTo>
                  </a:path>
                </a:pathLst>
              </a:custGeom>
              <a:noFill/>
              <a:ln w="19050">
                <a:solidFill>
                  <a:srgbClr val="B7520E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2568854" y="24993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8B857A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443658" y="3509010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7520E"/>
                  </a:solidFill>
                  <a:latin typeface="Arial"/>
                  <a:ea typeface="Microsoft YaHei"/>
                  <a:cs typeface="Arial"/>
                </a:rPr>
                <a:t>理解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4124325" y="2914650"/>
              <a:ext cx="457200" cy="457200"/>
            </a:xfrm>
            <a:prstGeom prst="ellipse">
              <a:avLst/>
            </a:prstGeom>
            <a:solidFill>
              <a:srgbClr val="FFFFFF"/>
            </a:solidFill>
            <a:ln w="14288">
              <a:solidFill>
                <a:srgbClr val="D9D4C9"/>
              </a:solidFill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4267200" y="3057525"/>
              <a:ext cx="171450" cy="171450"/>
              <a:chOff x="4267200" y="3057525"/>
              <a:chExt cx="171450" cy="17145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4305300" y="3219450"/>
                <a:ext cx="9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">
                    <a:moveTo>
                      <a:pt x="0" y="0"/>
                    </a:move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rgbClr val="141414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4295775" y="3076575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9525"/>
                    </a:moveTo>
                    <a:lnTo>
                      <a:pt x="57150" y="0"/>
                    </a:lnTo>
                    <a:lnTo>
                      <a:pt x="114300" y="9525"/>
                    </a:lnTo>
                  </a:path>
                </a:pathLst>
              </a:custGeom>
              <a:noFill/>
              <a:ln w="19050">
                <a:solidFill>
                  <a:srgbClr val="141414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4352925" y="3057525"/>
                <a:ext cx="9525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61925">
                    <a:moveTo>
                      <a:pt x="0" y="0"/>
                    </a:moveTo>
                    <a:lnTo>
                      <a:pt x="0" y="161925"/>
                    </a:lnTo>
                  </a:path>
                </a:pathLst>
              </a:custGeom>
              <a:noFill/>
              <a:ln w="19050">
                <a:solidFill>
                  <a:srgbClr val="141414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4267200" y="3086100"/>
                <a:ext cx="5715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85725">
                    <a:moveTo>
                      <a:pt x="57150" y="57150"/>
                    </a:moveTo>
                    <a:lnTo>
                      <a:pt x="28575" y="0"/>
                    </a:lnTo>
                    <a:lnTo>
                      <a:pt x="0" y="57150"/>
                    </a:lnTo>
                    <a:cubicBezTo>
                      <a:pt x="0" y="72932"/>
                      <a:pt x="12793" y="85725"/>
                      <a:pt x="28575" y="85725"/>
                    </a:cubicBezTo>
                    <a:cubicBezTo>
                      <a:pt x="44357" y="85725"/>
                      <a:pt x="57150" y="72932"/>
                      <a:pt x="57150" y="57150"/>
                    </a:cubicBezTo>
                  </a:path>
                </a:pathLst>
              </a:custGeom>
              <a:noFill/>
              <a:ln w="19050">
                <a:solidFill>
                  <a:srgbClr val="141414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4381500" y="3086100"/>
                <a:ext cx="5715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85725">
                    <a:moveTo>
                      <a:pt x="57150" y="57150"/>
                    </a:moveTo>
                    <a:lnTo>
                      <a:pt x="28575" y="0"/>
                    </a:lnTo>
                    <a:lnTo>
                      <a:pt x="0" y="57150"/>
                    </a:lnTo>
                    <a:cubicBezTo>
                      <a:pt x="0" y="72932"/>
                      <a:pt x="12793" y="85725"/>
                      <a:pt x="28575" y="85725"/>
                    </a:cubicBezTo>
                    <a:cubicBezTo>
                      <a:pt x="44357" y="85725"/>
                      <a:pt x="57150" y="72932"/>
                      <a:pt x="57150" y="57150"/>
                    </a:cubicBezTo>
                  </a:path>
                </a:pathLst>
              </a:custGeom>
              <a:noFill/>
              <a:ln w="19050">
                <a:solidFill>
                  <a:srgbClr val="141414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4302404" y="24993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8B857A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185285" y="35090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7534A"/>
                  </a:solidFill>
                  <a:latin typeface="Arial"/>
                  <a:ea typeface="Microsoft YaHei"/>
                  <a:cs typeface="Arial"/>
                </a:rPr>
                <a:t>决策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5867400" y="2914650"/>
              <a:ext cx="457200" cy="4572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D5451B"/>
              </a:solidFill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6010275" y="3048000"/>
              <a:ext cx="161925" cy="190503"/>
              <a:chOff x="6010275" y="3048000"/>
              <a:chExt cx="161925" cy="190503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6057900" y="3057525"/>
                <a:ext cx="2857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95250">
                    <a:moveTo>
                      <a:pt x="0" y="95250"/>
                    </a:moveTo>
                    <a:lnTo>
                      <a:pt x="0" y="14288"/>
                    </a:lnTo>
                    <a:cubicBezTo>
                      <a:pt x="0" y="6397"/>
                      <a:pt x="6397" y="0"/>
                      <a:pt x="14288" y="0"/>
                    </a:cubicBezTo>
                    <a:cubicBezTo>
                      <a:pt x="22178" y="0"/>
                      <a:pt x="28575" y="6397"/>
                      <a:pt x="28575" y="14288"/>
                    </a:cubicBezTo>
                    <a:lnTo>
                      <a:pt x="28575" y="85725"/>
                    </a:lnTo>
                  </a:path>
                </a:pathLst>
              </a:custGeom>
              <a:noFill/>
              <a:ln w="19050">
                <a:solidFill>
                  <a:srgbClr val="D5451B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086475" y="3105150"/>
                <a:ext cx="2857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38100">
                    <a:moveTo>
                      <a:pt x="0" y="33338"/>
                    </a:moveTo>
                    <a:lnTo>
                      <a:pt x="0" y="14288"/>
                    </a:lnTo>
                    <a:cubicBezTo>
                      <a:pt x="0" y="6397"/>
                      <a:pt x="6397" y="0"/>
                      <a:pt x="14288" y="0"/>
                    </a:cubicBezTo>
                    <a:cubicBezTo>
                      <a:pt x="22178" y="0"/>
                      <a:pt x="28575" y="6397"/>
                      <a:pt x="28575" y="14288"/>
                    </a:cubicBezTo>
                    <a:lnTo>
                      <a:pt x="28575" y="38100"/>
                    </a:lnTo>
                  </a:path>
                </a:pathLst>
              </a:custGeom>
              <a:noFill/>
              <a:ln w="19050">
                <a:solidFill>
                  <a:srgbClr val="D5451B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115050" y="3114675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>
                    <a:moveTo>
                      <a:pt x="0" y="14288"/>
                    </a:moveTo>
                    <a:cubicBezTo>
                      <a:pt x="0" y="6397"/>
                      <a:pt x="6397" y="0"/>
                      <a:pt x="14288" y="0"/>
                    </a:cubicBezTo>
                    <a:cubicBezTo>
                      <a:pt x="22178" y="0"/>
                      <a:pt x="28575" y="6397"/>
                      <a:pt x="28575" y="14288"/>
                    </a:cubicBezTo>
                    <a:lnTo>
                      <a:pt x="28575" y="28575"/>
                    </a:lnTo>
                  </a:path>
                </a:pathLst>
              </a:custGeom>
              <a:noFill/>
              <a:ln w="19050">
                <a:solidFill>
                  <a:srgbClr val="D5451B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013282" y="3124200"/>
                <a:ext cx="158918" cy="114303"/>
              </a:xfrm>
              <a:custGeom>
                <a:avLst/>
                <a:gdLst/>
                <a:ahLst/>
                <a:cxnLst/>
                <a:rect l="l" t="t" r="r" b="b"/>
                <a:pathLst>
                  <a:path w="158918" h="114303">
                    <a:moveTo>
                      <a:pt x="130343" y="14288"/>
                    </a:moveTo>
                    <a:cubicBezTo>
                      <a:pt x="130343" y="6397"/>
                      <a:pt x="136740" y="0"/>
                      <a:pt x="144630" y="0"/>
                    </a:cubicBezTo>
                    <a:cubicBezTo>
                      <a:pt x="152521" y="0"/>
                      <a:pt x="158918" y="6397"/>
                      <a:pt x="158918" y="14288"/>
                    </a:cubicBezTo>
                    <a:lnTo>
                      <a:pt x="158918" y="57150"/>
                    </a:lnTo>
                    <a:cubicBezTo>
                      <a:pt x="158918" y="88713"/>
                      <a:pt x="133331" y="114300"/>
                      <a:pt x="101768" y="114300"/>
                    </a:cubicBezTo>
                    <a:lnTo>
                      <a:pt x="82718" y="114300"/>
                    </a:lnTo>
                    <a:lnTo>
                      <a:pt x="84699" y="114300"/>
                    </a:lnTo>
                    <a:cubicBezTo>
                      <a:pt x="65473" y="114303"/>
                      <a:pt x="47534" y="104639"/>
                      <a:pt x="36960" y="88583"/>
                    </a:cubicBezTo>
                    <a:lnTo>
                      <a:pt x="35093" y="85725"/>
                    </a:lnTo>
                    <a:cubicBezTo>
                      <a:pt x="32121" y="81163"/>
                      <a:pt x="21691" y="62979"/>
                      <a:pt x="3794" y="31166"/>
                    </a:cubicBezTo>
                    <a:cubicBezTo>
                      <a:pt x="0" y="24423"/>
                      <a:pt x="2263" y="15885"/>
                      <a:pt x="8899" y="11906"/>
                    </a:cubicBezTo>
                    <a:cubicBezTo>
                      <a:pt x="15893" y="7710"/>
                      <a:pt x="24845" y="8809"/>
                      <a:pt x="30616" y="14573"/>
                    </a:cubicBezTo>
                    <a:lnTo>
                      <a:pt x="44618" y="28575"/>
                    </a:lnTo>
                  </a:path>
                </a:pathLst>
              </a:custGeom>
              <a:noFill/>
              <a:ln w="19050">
                <a:solidFill>
                  <a:srgbClr val="D5451B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019800" y="30480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9525" y="9525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D5451B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010275" y="30956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9525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D5451B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115050" y="30480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9525"/>
                    </a:moveTo>
                    <a:lnTo>
                      <a:pt x="9525" y="0"/>
                    </a:lnTo>
                  </a:path>
                </a:pathLst>
              </a:custGeom>
              <a:noFill/>
              <a:ln w="19050">
                <a:solidFill>
                  <a:srgbClr val="D5451B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124575" y="30861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9525" y="0"/>
                    </a:lnTo>
                  </a:path>
                </a:pathLst>
              </a:custGeom>
              <a:noFill/>
              <a:ln w="19050">
                <a:solidFill>
                  <a:srgbClr val="D5451B"/>
                </a:solidFill>
              </a:ln>
            </p:spPr>
          </p:sp>
        </p:grpSp>
        <p:grpSp>
          <p:nvGrpSpPr>
            <p:cNvPr id="50" name="Group 50"/>
            <p:cNvGrpSpPr/>
            <p:nvPr/>
          </p:nvGrpSpPr>
          <p:grpSpPr>
            <a:xfrm>
              <a:off x="6234112" y="2843212"/>
              <a:ext cx="142875" cy="142875"/>
              <a:chOff x="6234112" y="2843212"/>
              <a:chExt cx="142875" cy="142875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6234112" y="2843212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71437"/>
                    </a:moveTo>
                    <a:cubicBezTo>
                      <a:pt x="0" y="110891"/>
                      <a:pt x="31984" y="142875"/>
                      <a:pt x="71437" y="142875"/>
                    </a:cubicBezTo>
                    <a:cubicBezTo>
                      <a:pt x="110891" y="142875"/>
                      <a:pt x="142875" y="110891"/>
                      <a:pt x="142875" y="71437"/>
                    </a:cubicBezTo>
                    <a:cubicBezTo>
                      <a:pt x="142875" y="31984"/>
                      <a:pt x="110891" y="0"/>
                      <a:pt x="71437" y="0"/>
                    </a:cubicBezTo>
                    <a:cubicBezTo>
                      <a:pt x="31984" y="0"/>
                      <a:pt x="0" y="31984"/>
                      <a:pt x="0" y="71437"/>
                    </a:cubicBezTo>
                  </a:path>
                </a:pathLst>
              </a:custGeom>
              <a:noFill/>
              <a:ln w="19050">
                <a:solidFill>
                  <a:srgbClr val="D5451B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6289675" y="2898775"/>
                <a:ext cx="3175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31750">
                    <a:moveTo>
                      <a:pt x="0" y="0"/>
                    </a:moveTo>
                    <a:lnTo>
                      <a:pt x="31750" y="31750"/>
                    </a:lnTo>
                    <a:moveTo>
                      <a:pt x="31750" y="0"/>
                    </a:moveTo>
                    <a:lnTo>
                      <a:pt x="0" y="31750"/>
                    </a:lnTo>
                  </a:path>
                </a:pathLst>
              </a:custGeom>
              <a:noFill/>
              <a:ln w="19050">
                <a:solidFill>
                  <a:srgbClr val="D5451B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6045479" y="24993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8B857A"/>
                  </a:solidFill>
                  <a:latin typeface="Arial"/>
                  <a:ea typeface="Arial"/>
                  <a:cs typeface="Arial"/>
                </a:rPr>
                <a:t>4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920283" y="3509010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D5451B"/>
                  </a:solidFill>
                  <a:latin typeface="Arial"/>
                  <a:ea typeface="Microsoft YaHei"/>
                  <a:cs typeface="Arial"/>
                </a:rPr>
                <a:t>行动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7610475" y="2914650"/>
              <a:ext cx="457200" cy="4572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D5451B"/>
              </a:solidFill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7753350" y="3076575"/>
              <a:ext cx="171450" cy="133350"/>
              <a:chOff x="7753350" y="3076575"/>
              <a:chExt cx="171450" cy="133350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7753350" y="3076575"/>
                <a:ext cx="1714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33350">
                    <a:moveTo>
                      <a:pt x="0" y="28575"/>
                    </a:moveTo>
                    <a:cubicBezTo>
                      <a:pt x="0" y="12793"/>
                      <a:pt x="12793" y="0"/>
                      <a:pt x="28575" y="0"/>
                    </a:cubicBezTo>
                    <a:lnTo>
                      <a:pt x="142875" y="0"/>
                    </a:lnTo>
                    <a:cubicBezTo>
                      <a:pt x="158657" y="0"/>
                      <a:pt x="171450" y="12793"/>
                      <a:pt x="171450" y="28575"/>
                    </a:cubicBezTo>
                    <a:lnTo>
                      <a:pt x="171450" y="104775"/>
                    </a:lnTo>
                    <a:cubicBezTo>
                      <a:pt x="171450" y="120557"/>
                      <a:pt x="158657" y="133350"/>
                      <a:pt x="142875" y="133350"/>
                    </a:cubicBezTo>
                    <a:lnTo>
                      <a:pt x="28575" y="133350"/>
                    </a:lnTo>
                    <a:cubicBezTo>
                      <a:pt x="12793" y="133350"/>
                      <a:pt x="0" y="120557"/>
                      <a:pt x="0" y="104775"/>
                    </a:cubicBezTo>
                    <a:lnTo>
                      <a:pt x="0" y="28575"/>
                    </a:lnTo>
                  </a:path>
                </a:pathLst>
              </a:custGeom>
              <a:noFill/>
              <a:ln w="19050">
                <a:solidFill>
                  <a:srgbClr val="D5451B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7753350" y="3124200"/>
                <a:ext cx="1714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9525">
                    <a:moveTo>
                      <a:pt x="0" y="0"/>
                    </a:moveTo>
                    <a:lnTo>
                      <a:pt x="171450" y="0"/>
                    </a:lnTo>
                  </a:path>
                </a:pathLst>
              </a:custGeom>
              <a:noFill/>
              <a:ln w="19050">
                <a:solidFill>
                  <a:srgbClr val="D5451B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7791450" y="31718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95" y="0"/>
                    </a:lnTo>
                  </a:path>
                </a:pathLst>
              </a:custGeom>
              <a:noFill/>
              <a:ln w="19050">
                <a:solidFill>
                  <a:srgbClr val="D5451B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7829550" y="3171825"/>
                <a:ext cx="190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9525">
                    <a:moveTo>
                      <a:pt x="0" y="0"/>
                    </a:moveTo>
                    <a:lnTo>
                      <a:pt x="19050" y="0"/>
                    </a:lnTo>
                  </a:path>
                </a:pathLst>
              </a:custGeom>
              <a:noFill/>
              <a:ln w="19050">
                <a:solidFill>
                  <a:srgbClr val="D5451B"/>
                </a:solidFill>
              </a:ln>
            </p:spPr>
          </p:sp>
        </p:grpSp>
        <p:grpSp>
          <p:nvGrpSpPr>
            <p:cNvPr id="61" name="Group 61"/>
            <p:cNvGrpSpPr/>
            <p:nvPr/>
          </p:nvGrpSpPr>
          <p:grpSpPr>
            <a:xfrm>
              <a:off x="7977187" y="2843212"/>
              <a:ext cx="142875" cy="142875"/>
              <a:chOff x="7977187" y="2843212"/>
              <a:chExt cx="142875" cy="142875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7977187" y="2843212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71437"/>
                    </a:moveTo>
                    <a:cubicBezTo>
                      <a:pt x="0" y="110891"/>
                      <a:pt x="31984" y="142875"/>
                      <a:pt x="71437" y="142875"/>
                    </a:cubicBezTo>
                    <a:cubicBezTo>
                      <a:pt x="110891" y="142875"/>
                      <a:pt x="142875" y="110891"/>
                      <a:pt x="142875" y="71437"/>
                    </a:cubicBezTo>
                    <a:cubicBezTo>
                      <a:pt x="142875" y="31984"/>
                      <a:pt x="110891" y="0"/>
                      <a:pt x="71437" y="0"/>
                    </a:cubicBezTo>
                    <a:cubicBezTo>
                      <a:pt x="31984" y="0"/>
                      <a:pt x="0" y="31984"/>
                      <a:pt x="0" y="71437"/>
                    </a:cubicBezTo>
                  </a:path>
                </a:pathLst>
              </a:custGeom>
              <a:noFill/>
              <a:ln w="19050">
                <a:solidFill>
                  <a:srgbClr val="D5451B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032750" y="2898775"/>
                <a:ext cx="3175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31750">
                    <a:moveTo>
                      <a:pt x="0" y="0"/>
                    </a:moveTo>
                    <a:lnTo>
                      <a:pt x="31750" y="31750"/>
                    </a:lnTo>
                    <a:moveTo>
                      <a:pt x="31750" y="0"/>
                    </a:moveTo>
                    <a:lnTo>
                      <a:pt x="0" y="31750"/>
                    </a:lnTo>
                  </a:path>
                </a:pathLst>
              </a:custGeom>
              <a:noFill/>
              <a:ln w="19050">
                <a:solidFill>
                  <a:srgbClr val="D5451B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7788554" y="24993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8B857A"/>
                  </a:solidFill>
                  <a:latin typeface="Arial"/>
                  <a:ea typeface="Arial"/>
                  <a:cs typeface="Arial"/>
                </a:rPr>
                <a:t>5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663358" y="3509010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D5451B"/>
                  </a:solidFill>
                  <a:latin typeface="Arial"/>
                  <a:ea typeface="Microsoft YaHei"/>
                  <a:cs typeface="Arial"/>
                </a:rPr>
                <a:t>支付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9344025" y="2914650"/>
              <a:ext cx="457200" cy="457200"/>
            </a:xfrm>
            <a:prstGeom prst="ellipse">
              <a:avLst/>
            </a:prstGeom>
            <a:solidFill>
              <a:srgbClr val="FFFFFF"/>
            </a:solidFill>
            <a:ln w="14288">
              <a:solidFill>
                <a:srgbClr val="D9D4C9"/>
              </a:solidFill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9486900" y="3057525"/>
              <a:ext cx="171450" cy="171450"/>
              <a:chOff x="9486900" y="3057525"/>
              <a:chExt cx="171450" cy="171450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9534525" y="310515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38100"/>
                    </a:moveTo>
                    <a:cubicBezTo>
                      <a:pt x="0" y="59142"/>
                      <a:pt x="17058" y="76200"/>
                      <a:pt x="38100" y="76200"/>
                    </a:cubicBezTo>
                    <a:cubicBezTo>
                      <a:pt x="59142" y="76200"/>
                      <a:pt x="76200" y="59142"/>
                      <a:pt x="76200" y="38100"/>
                    </a:cubicBezTo>
                    <a:cubicBezTo>
                      <a:pt x="76200" y="17058"/>
                      <a:pt x="59142" y="0"/>
                      <a:pt x="38100" y="0"/>
                    </a:cubicBezTo>
                    <a:cubicBezTo>
                      <a:pt x="17058" y="0"/>
                      <a:pt x="0" y="17058"/>
                      <a:pt x="0" y="38100"/>
                    </a:cubicBezTo>
                  </a:path>
                </a:pathLst>
              </a:custGeom>
              <a:noFill/>
              <a:ln w="19050">
                <a:solidFill>
                  <a:srgbClr val="141414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9486900" y="3057525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0" y="85725"/>
                    </a:moveTo>
                    <a:cubicBezTo>
                      <a:pt x="0" y="133070"/>
                      <a:pt x="38380" y="171450"/>
                      <a:pt x="85725" y="171450"/>
                    </a:cubicBezTo>
                    <a:cubicBezTo>
                      <a:pt x="133070" y="171450"/>
                      <a:pt x="171450" y="133070"/>
                      <a:pt x="171450" y="85725"/>
                    </a:cubicBezTo>
                    <a:cubicBezTo>
                      <a:pt x="171450" y="38380"/>
                      <a:pt x="133070" y="0"/>
                      <a:pt x="85725" y="0"/>
                    </a:cubicBezTo>
                    <a:cubicBezTo>
                      <a:pt x="38380" y="0"/>
                      <a:pt x="0" y="38380"/>
                      <a:pt x="0" y="85725"/>
                    </a:cubicBezTo>
                  </a:path>
                </a:pathLst>
              </a:custGeom>
              <a:noFill/>
              <a:ln w="19050">
                <a:solidFill>
                  <a:srgbClr val="141414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9601200" y="3171825"/>
                <a:ext cx="31909" cy="31909"/>
              </a:xfrm>
              <a:custGeom>
                <a:avLst/>
                <a:gdLst/>
                <a:ahLst/>
                <a:cxnLst/>
                <a:rect l="l" t="t" r="r" b="b"/>
                <a:pathLst>
                  <a:path w="31909" h="31909">
                    <a:moveTo>
                      <a:pt x="0" y="0"/>
                    </a:moveTo>
                    <a:lnTo>
                      <a:pt x="31909" y="31909"/>
                    </a:lnTo>
                  </a:path>
                </a:pathLst>
              </a:custGeom>
              <a:noFill/>
              <a:ln w="19050">
                <a:solidFill>
                  <a:srgbClr val="141414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9512141" y="3171825"/>
                <a:ext cx="31909" cy="31909"/>
              </a:xfrm>
              <a:custGeom>
                <a:avLst/>
                <a:gdLst/>
                <a:ahLst/>
                <a:cxnLst/>
                <a:rect l="l" t="t" r="r" b="b"/>
                <a:pathLst>
                  <a:path w="31909" h="31909">
                    <a:moveTo>
                      <a:pt x="31909" y="0"/>
                    </a:moveTo>
                    <a:lnTo>
                      <a:pt x="0" y="31909"/>
                    </a:lnTo>
                  </a:path>
                </a:pathLst>
              </a:custGeom>
              <a:noFill/>
              <a:ln w="19050">
                <a:solidFill>
                  <a:srgbClr val="141414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9512141" y="3082766"/>
                <a:ext cx="31909" cy="31909"/>
              </a:xfrm>
              <a:custGeom>
                <a:avLst/>
                <a:gdLst/>
                <a:ahLst/>
                <a:cxnLst/>
                <a:rect l="l" t="t" r="r" b="b"/>
                <a:pathLst>
                  <a:path w="31909" h="31909">
                    <a:moveTo>
                      <a:pt x="0" y="0"/>
                    </a:moveTo>
                    <a:lnTo>
                      <a:pt x="31909" y="31909"/>
                    </a:lnTo>
                  </a:path>
                </a:pathLst>
              </a:custGeom>
              <a:noFill/>
              <a:ln w="19050">
                <a:solidFill>
                  <a:srgbClr val="141414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9601200" y="3082766"/>
                <a:ext cx="31909" cy="31909"/>
              </a:xfrm>
              <a:custGeom>
                <a:avLst/>
                <a:gdLst/>
                <a:ahLst/>
                <a:cxnLst/>
                <a:rect l="l" t="t" r="r" b="b"/>
                <a:pathLst>
                  <a:path w="31909" h="31909">
                    <a:moveTo>
                      <a:pt x="31909" y="0"/>
                    </a:moveTo>
                    <a:lnTo>
                      <a:pt x="0" y="31909"/>
                    </a:lnTo>
                  </a:path>
                </a:pathLst>
              </a:custGeom>
              <a:noFill/>
              <a:ln w="19050">
                <a:solidFill>
                  <a:srgbClr val="141414"/>
                </a:solidFill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9522104" y="24993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8B857A"/>
                  </a:solidFill>
                  <a:latin typeface="Arial"/>
                  <a:ea typeface="Arial"/>
                  <a:cs typeface="Arial"/>
                </a:rPr>
                <a:t>6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9404985" y="35090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7534A"/>
                  </a:solidFill>
                  <a:latin typeface="Arial"/>
                  <a:ea typeface="Microsoft YaHei"/>
                  <a:cs typeface="Arial"/>
                </a:rPr>
                <a:t>求助</a:t>
              </a:r>
            </a:p>
          </p:txBody>
        </p:sp>
        <p:sp>
          <p:nvSpPr>
            <p:cNvPr id="74" name="Ellipse 74"/>
            <p:cNvSpPr/>
            <p:nvPr/>
          </p:nvSpPr>
          <p:spPr>
            <a:xfrm>
              <a:off x="11087100" y="2914650"/>
              <a:ext cx="457200" cy="457200"/>
            </a:xfrm>
            <a:prstGeom prst="ellipse">
              <a:avLst/>
            </a:prstGeom>
            <a:solidFill>
              <a:srgbClr val="FFFFFF"/>
            </a:solidFill>
            <a:ln w="14288">
              <a:solidFill>
                <a:srgbClr val="D9D4C9"/>
              </a:solidFill>
            </a:ln>
          </p:spPr>
        </p:sp>
        <p:sp>
          <p:nvSpPr>
            <p:cNvPr id="75" name="Freeform 75"/>
            <p:cNvSpPr/>
            <p:nvPr/>
          </p:nvSpPr>
          <p:spPr>
            <a:xfrm>
              <a:off x="11226677" y="3064606"/>
              <a:ext cx="177874" cy="154844"/>
            </a:xfrm>
            <a:custGeom>
              <a:avLst/>
              <a:gdLst/>
              <a:ahLst/>
              <a:cxnLst/>
              <a:rect l="l" t="t" r="r" b="b"/>
              <a:pathLst>
                <a:path w="177874" h="154844">
                  <a:moveTo>
                    <a:pt x="160461" y="84092"/>
                  </a:moveTo>
                  <a:lnTo>
                    <a:pt x="89023" y="154844"/>
                  </a:lnTo>
                  <a:lnTo>
                    <a:pt x="17586" y="84092"/>
                  </a:lnTo>
                  <a:cubicBezTo>
                    <a:pt x="4739" y="71591"/>
                    <a:pt x="0" y="52936"/>
                    <a:pt x="5322" y="35820"/>
                  </a:cubicBezTo>
                  <a:cubicBezTo>
                    <a:pt x="10644" y="18703"/>
                    <a:pt x="25126" y="6024"/>
                    <a:pt x="42796" y="3012"/>
                  </a:cubicBezTo>
                  <a:cubicBezTo>
                    <a:pt x="60466" y="0"/>
                    <a:pt x="78331" y="7164"/>
                    <a:pt x="89023" y="21551"/>
                  </a:cubicBezTo>
                  <a:cubicBezTo>
                    <a:pt x="99761" y="7271"/>
                    <a:pt x="117587" y="202"/>
                    <a:pt x="135193" y="3242"/>
                  </a:cubicBezTo>
                  <a:cubicBezTo>
                    <a:pt x="152799" y="6282"/>
                    <a:pt x="167222" y="18921"/>
                    <a:pt x="172548" y="35975"/>
                  </a:cubicBezTo>
                  <a:cubicBezTo>
                    <a:pt x="177874" y="53029"/>
                    <a:pt x="173207" y="71629"/>
                    <a:pt x="160461" y="84149"/>
                  </a:cubicBezTo>
                </a:path>
              </a:pathLst>
            </a:custGeom>
            <a:noFill/>
            <a:ln w="19050">
              <a:solidFill>
                <a:srgbClr val="141414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11265179" y="24993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8B857A"/>
                  </a:solidFill>
                  <a:latin typeface="Arial"/>
                  <a:ea typeface="Arial"/>
                  <a:cs typeface="Arial"/>
                </a:rPr>
                <a:t>7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148060" y="35090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7534A"/>
                  </a:solidFill>
                  <a:latin typeface="Arial"/>
                  <a:ea typeface="Microsoft YaHei"/>
                  <a:cs typeface="Arial"/>
                </a:rPr>
                <a:t>离店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609600" y="4225290"/>
            <a:ext cx="7046824" cy="1380744"/>
            <a:chOff x="609600" y="4225290"/>
            <a:chExt cx="7046824" cy="1380744"/>
          </a:xfrm>
        </p:grpSpPr>
        <p:sp>
          <p:nvSpPr>
            <p:cNvPr id="79" name="Rectangle 79"/>
            <p:cNvSpPr/>
            <p:nvPr/>
          </p:nvSpPr>
          <p:spPr>
            <a:xfrm>
              <a:off x="609600" y="4305300"/>
              <a:ext cx="76200" cy="76200"/>
            </a:xfrm>
            <a:prstGeom prst="rect">
              <a:avLst/>
            </a:prstGeom>
            <a:solidFill>
              <a:srgbClr val="B7520E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829056" y="4225290"/>
              <a:ext cx="68273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1414"/>
                  </a:solidFill>
                  <a:latin typeface="Arial"/>
                  <a:ea typeface="Microsoft YaHei"/>
                  <a:cs typeface="Arial"/>
                </a:rPr>
                <a:t>「毛肚」直译成 tripe——</a:t>
              </a:r>
              <a:r>
                <a:rPr lang="zh-CN" sz="1800" b="1" dirty="0">
                  <a:solidFill>
                    <a:srgbClr val="141414"/>
                  </a:solidFill>
                  <a:latin typeface="Arial"/>
                  <a:ea typeface="Microsoft YaHei"/>
                  <a:cs typeface="Arial"/>
                </a:rPr>
                <a:t>翻译对了</a:t>
              </a:r>
              <a:r>
                <a:rPr lang="zh-CN" sz="1800" dirty="0">
                  <a:solidFill>
                    <a:srgbClr val="141414"/>
                  </a:solidFill>
                  <a:latin typeface="Arial"/>
                  <a:ea typeface="Microsoft YaHei"/>
                  <a:cs typeface="Arial"/>
                </a:rPr>
                <a:t>，客人还是不知道这是什么。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609600" y="4819650"/>
              <a:ext cx="76200" cy="76200"/>
            </a:xfrm>
            <a:prstGeom prst="rect">
              <a:avLst/>
            </a:prstGeom>
            <a:solidFill>
              <a:srgbClr val="D5451B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829056" y="4739640"/>
              <a:ext cx="593079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1414"/>
                  </a:solidFill>
                  <a:latin typeface="Arial"/>
                  <a:ea typeface="Microsoft YaHei"/>
                  <a:cs typeface="Arial"/>
                </a:rPr>
                <a:t>扫码点单，进去是</a:t>
              </a:r>
              <a:r>
                <a:rPr lang="zh-CN" sz="1800" b="1" dirty="0">
                  <a:solidFill>
                    <a:srgbClr val="141414"/>
                  </a:solidFill>
                  <a:latin typeface="Arial"/>
                  <a:ea typeface="Microsoft YaHei"/>
                  <a:cs typeface="Arial"/>
                </a:rPr>
                <a:t>全中文小程序</a:t>
              </a:r>
              <a:r>
                <a:rPr lang="zh-CN" sz="1800" dirty="0">
                  <a:solidFill>
                    <a:srgbClr val="141414"/>
                  </a:solidFill>
                  <a:latin typeface="Arial"/>
                  <a:ea typeface="Microsoft YaHei"/>
                  <a:cs typeface="Arial"/>
                </a:rPr>
                <a:t>——客人就卡在第四步。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609600" y="5334000"/>
              <a:ext cx="76200" cy="76200"/>
            </a:xfrm>
            <a:prstGeom prst="rect">
              <a:avLst/>
            </a:prstGeom>
            <a:solidFill>
              <a:srgbClr val="D5451B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829056" y="5253990"/>
              <a:ext cx="639844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1414"/>
                  </a:solidFill>
                  <a:latin typeface="Arial"/>
                  <a:ea typeface="Microsoft YaHei"/>
                  <a:cs typeface="Arial"/>
                </a:rPr>
                <a:t>桌上没有一块牌子说清：</a:t>
              </a:r>
              <a:r>
                <a:rPr lang="zh-CN" sz="1800" b="1" dirty="0">
                  <a:solidFill>
                    <a:srgbClr val="141414"/>
                  </a:solidFill>
                  <a:latin typeface="Arial"/>
                  <a:ea typeface="Microsoft YaHei"/>
                  <a:cs typeface="Arial"/>
                </a:rPr>
                <a:t>能不能刷 Visa？能不能用现金？</a:t>
              </a: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602742" y="5867400"/>
            <a:ext cx="10979658" cy="442151"/>
            <a:chOff x="602742" y="5867400"/>
            <a:chExt cx="10979658" cy="442151"/>
          </a:xfrm>
        </p:grpSpPr>
        <p:sp>
          <p:nvSpPr>
            <p:cNvPr id="86" name="Line 86"/>
            <p:cNvSpPr/>
            <p:nvPr/>
          </p:nvSpPr>
          <p:spPr>
            <a:xfrm>
              <a:off x="609600" y="5867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ECE9E1"/>
              </a:solidFill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602742" y="6045518"/>
              <a:ext cx="71832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7534A"/>
                  </a:solidFill>
                  <a:latin typeface="Arial"/>
                  <a:ea typeface="Microsoft YaHei"/>
                  <a:cs typeface="Arial"/>
                </a:rPr>
                <a:t>很多店只在「翻译」上下功夫，客人却倒在了点单和付款——所以检查要</a:t>
              </a:r>
              <a:r>
                <a:rPr lang="zh-CN" sz="1350" b="1" dirty="0">
                  <a:solidFill>
                    <a:srgbClr val="141414"/>
                  </a:solidFill>
                  <a:latin typeface="Arial"/>
                  <a:ea typeface="Microsoft YaHei"/>
                  <a:cs typeface="Arial"/>
                </a:rPr>
                <a:t>从头到尾整条查</a:t>
              </a:r>
              <a:r>
                <a:rPr lang="zh-CN" sz="1350" dirty="0">
                  <a:solidFill>
                    <a:srgbClr val="57534A"/>
                  </a:solidFill>
                  <a:latin typeface="Arial"/>
                  <a:ea typeface="Microsoft YaHei"/>
                  <a:cs typeface="Arial"/>
                </a:rPr>
                <a:t>。</a:t>
              </a: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604266" y="6497002"/>
            <a:ext cx="10983468" cy="205359"/>
            <a:chOff x="604266" y="6497002"/>
            <a:chExt cx="10983468" cy="205359"/>
          </a:xfrm>
        </p:grpSpPr>
        <p:sp>
          <p:nvSpPr>
            <p:cNvPr id="89" name="TextBox 89"/>
            <p:cNvSpPr txBox="1"/>
            <p:nvPr/>
          </p:nvSpPr>
          <p:spPr>
            <a:xfrm>
              <a:off x="604266" y="6497002"/>
              <a:ext cx="16586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857A"/>
                  </a:solidFill>
                  <a:latin typeface="Arial"/>
                  <a:ea typeface="Microsoft YaHei"/>
                  <a:cs typeface="Arial"/>
                </a:rPr>
                <a:t>Arrival Ready · 迎客验收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1103540" y="64970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8B857A"/>
                  </a:solidFill>
                  <a:latin typeface="Arial"/>
                  <a:ea typeface="Arial"/>
                  <a:cs typeface="Arial"/>
                </a:rPr>
                <a:t>02 / 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98932" y="419100"/>
            <a:ext cx="11672392" cy="1060323"/>
            <a:chOff x="598932" y="419100"/>
            <a:chExt cx="11672392" cy="1060323"/>
          </a:xfrm>
        </p:grpSpPr>
        <p:sp>
          <p:nvSpPr>
            <p:cNvPr id="3" name="Rectangle 3"/>
            <p:cNvSpPr/>
            <p:nvPr/>
          </p:nvSpPr>
          <p:spPr>
            <a:xfrm>
              <a:off x="609600" y="495300"/>
              <a:ext cx="38100" cy="304800"/>
            </a:xfrm>
            <a:prstGeom prst="rect">
              <a:avLst/>
            </a:prstGeom>
            <a:solidFill>
              <a:srgbClr val="D5451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6760" y="419100"/>
              <a:ext cx="7239381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11111"/>
                  </a:solidFill>
                  <a:latin typeface="Arial"/>
                  <a:ea typeface="Microsoft YaHei"/>
                  <a:cs typeface="Arial"/>
                </a:rPr>
                <a:t>我们不做游客助手，我们帮店接住游客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925660" y="458152"/>
              <a:ext cx="16620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spc="150" dirty="0">
                  <a:solidFill>
                    <a:srgbClr val="8B857A"/>
                  </a:solidFill>
                  <a:latin typeface="Arial"/>
                  <a:ea typeface="Microsoft YaHei"/>
                  <a:cs typeface="Arial"/>
                </a:rPr>
                <a:t>PART 1 · 问题与定位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8932" y="1068705"/>
              <a:ext cx="1167239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141414"/>
                  </a:solidFill>
                  <a:latin typeface="Arial"/>
                  <a:ea typeface="Microsoft YaHei"/>
                  <a:cs typeface="Arial"/>
                </a:rPr>
                <a:t>服务游客的 App 够多了，我们反过来站在</a:t>
              </a:r>
              <a:r>
                <a:rPr lang="zh-CN" sz="2100" b="1" dirty="0">
                  <a:solidFill>
                    <a:srgbClr val="141414"/>
                  </a:solidFill>
                  <a:latin typeface="Arial"/>
                  <a:ea typeface="Microsoft YaHei"/>
                  <a:cs typeface="Arial"/>
                </a:rPr>
                <a:t>店家这边</a:t>
              </a:r>
              <a:r>
                <a:rPr lang="zh-CN" sz="2100" dirty="0">
                  <a:solidFill>
                    <a:srgbClr val="141414"/>
                  </a:solidFill>
                  <a:latin typeface="Arial"/>
                  <a:ea typeface="Microsoft YaHei"/>
                  <a:cs typeface="Arial"/>
                </a:rPr>
                <a:t>：客人真推门进来了，这家店接得住吗？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09600" y="1714500"/>
            <a:ext cx="5295900" cy="3429000"/>
            <a:chOff x="609600" y="1714500"/>
            <a:chExt cx="5295900" cy="3429000"/>
          </a:xfrm>
        </p:grpSpPr>
        <p:sp>
          <p:nvSpPr>
            <p:cNvPr id="8" name="Rectangle 8"/>
            <p:cNvSpPr/>
            <p:nvPr/>
          </p:nvSpPr>
          <p:spPr>
            <a:xfrm>
              <a:off x="609600" y="1714500"/>
              <a:ext cx="5295900" cy="3429000"/>
            </a:xfrm>
            <a:prstGeom prst="rect">
              <a:avLst/>
            </a:prstGeom>
            <a:solidFill>
              <a:srgbClr val="F6F4EF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866775" y="1876425"/>
              <a:ext cx="171450" cy="171450"/>
              <a:chOff x="866775" y="1876425"/>
              <a:chExt cx="171450" cy="17145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866775" y="1876425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0" y="85725"/>
                    </a:moveTo>
                    <a:cubicBezTo>
                      <a:pt x="0" y="133070"/>
                      <a:pt x="38380" y="171450"/>
                      <a:pt x="85725" y="171450"/>
                    </a:cubicBezTo>
                    <a:cubicBezTo>
                      <a:pt x="133070" y="171450"/>
                      <a:pt x="171450" y="133070"/>
                      <a:pt x="171450" y="85725"/>
                    </a:cubicBezTo>
                    <a:cubicBezTo>
                      <a:pt x="171450" y="38380"/>
                      <a:pt x="133070" y="0"/>
                      <a:pt x="85725" y="0"/>
                    </a:cubicBezTo>
                    <a:cubicBezTo>
                      <a:pt x="38380" y="0"/>
                      <a:pt x="0" y="38380"/>
                      <a:pt x="0" y="85725"/>
                    </a:cubicBezTo>
                  </a:path>
                </a:pathLst>
              </a:custGeom>
              <a:noFill/>
              <a:ln w="19050">
                <a:solidFill>
                  <a:srgbClr val="D5451B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933450" y="1943100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0"/>
                    </a:moveTo>
                    <a:lnTo>
                      <a:pt x="38100" y="38100"/>
                    </a:lnTo>
                    <a:moveTo>
                      <a:pt x="3810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D5451B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171956" y="1824990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11111"/>
                  </a:solidFill>
                  <a:latin typeface="Arial"/>
                  <a:ea typeface="Microsoft YaHei"/>
                  <a:cs typeface="Arial"/>
                </a:rPr>
                <a:t>这些事，我们不做</a:t>
              </a:r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864394" y="2369344"/>
              <a:ext cx="157163" cy="157163"/>
              <a:chOff x="864394" y="2369344"/>
              <a:chExt cx="157163" cy="157163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864394" y="2369344"/>
                <a:ext cx="157163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157163" h="157163">
                    <a:moveTo>
                      <a:pt x="0" y="78581"/>
                    </a:moveTo>
                    <a:cubicBezTo>
                      <a:pt x="0" y="121981"/>
                      <a:pt x="35182" y="157163"/>
                      <a:pt x="78581" y="157163"/>
                    </a:cubicBezTo>
                    <a:cubicBezTo>
                      <a:pt x="121981" y="157163"/>
                      <a:pt x="157163" y="121981"/>
                      <a:pt x="157163" y="78581"/>
                    </a:cubicBezTo>
                    <a:cubicBezTo>
                      <a:pt x="157163" y="35182"/>
                      <a:pt x="121981" y="0"/>
                      <a:pt x="78581" y="0"/>
                    </a:cubicBezTo>
                    <a:cubicBezTo>
                      <a:pt x="35182" y="0"/>
                      <a:pt x="0" y="35182"/>
                      <a:pt x="0" y="78581"/>
                    </a:cubicBezTo>
                  </a:path>
                </a:pathLst>
              </a:custGeom>
              <a:noFill/>
              <a:ln w="19050">
                <a:solidFill>
                  <a:srgbClr val="8B857A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925513" y="2430463"/>
                <a:ext cx="349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34925">
                    <a:moveTo>
                      <a:pt x="0" y="0"/>
                    </a:moveTo>
                    <a:lnTo>
                      <a:pt x="34925" y="34925"/>
                    </a:lnTo>
                    <a:moveTo>
                      <a:pt x="34925" y="0"/>
                    </a:moveTo>
                    <a:lnTo>
                      <a:pt x="0" y="34925"/>
                    </a:lnTo>
                  </a:path>
                </a:pathLst>
              </a:custGeom>
              <a:noFill/>
              <a:ln w="19050">
                <a:solidFill>
                  <a:srgbClr val="8B857A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152906" y="232029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1414"/>
                  </a:solidFill>
                  <a:latin typeface="Arial"/>
                  <a:ea typeface="Microsoft YaHei"/>
                  <a:cs typeface="Arial"/>
                </a:rPr>
                <a:t>翻译菜单的工具</a:t>
              </a:r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864394" y="2940844"/>
              <a:ext cx="157163" cy="157163"/>
              <a:chOff x="864394" y="2940844"/>
              <a:chExt cx="157163" cy="157163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864394" y="2940844"/>
                <a:ext cx="157163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157163" h="157163">
                    <a:moveTo>
                      <a:pt x="0" y="78581"/>
                    </a:moveTo>
                    <a:cubicBezTo>
                      <a:pt x="0" y="121981"/>
                      <a:pt x="35182" y="157163"/>
                      <a:pt x="78581" y="157163"/>
                    </a:cubicBezTo>
                    <a:cubicBezTo>
                      <a:pt x="121981" y="157163"/>
                      <a:pt x="157163" y="121981"/>
                      <a:pt x="157163" y="78581"/>
                    </a:cubicBezTo>
                    <a:cubicBezTo>
                      <a:pt x="157163" y="35182"/>
                      <a:pt x="121981" y="0"/>
                      <a:pt x="78581" y="0"/>
                    </a:cubicBezTo>
                    <a:cubicBezTo>
                      <a:pt x="35182" y="0"/>
                      <a:pt x="0" y="35182"/>
                      <a:pt x="0" y="78581"/>
                    </a:cubicBezTo>
                  </a:path>
                </a:pathLst>
              </a:custGeom>
              <a:noFill/>
              <a:ln w="19050">
                <a:solidFill>
                  <a:srgbClr val="8B857A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925513" y="3001963"/>
                <a:ext cx="349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34925">
                    <a:moveTo>
                      <a:pt x="0" y="0"/>
                    </a:moveTo>
                    <a:lnTo>
                      <a:pt x="34925" y="34925"/>
                    </a:lnTo>
                    <a:moveTo>
                      <a:pt x="34925" y="0"/>
                    </a:moveTo>
                    <a:lnTo>
                      <a:pt x="0" y="34925"/>
                    </a:lnTo>
                  </a:path>
                </a:pathLst>
              </a:custGeom>
              <a:noFill/>
              <a:ln w="19050">
                <a:solidFill>
                  <a:srgbClr val="8B857A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1152906" y="2891790"/>
              <a:ext cx="82478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1414"/>
                  </a:solidFill>
                  <a:latin typeface="Arial"/>
                  <a:ea typeface="Microsoft YaHei"/>
                  <a:cs typeface="Arial"/>
                </a:rPr>
                <a:t>AI 导游</a:t>
              </a:r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864394" y="3512344"/>
              <a:ext cx="157163" cy="157163"/>
              <a:chOff x="864394" y="3512344"/>
              <a:chExt cx="157163" cy="157163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864394" y="3512344"/>
                <a:ext cx="157163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157163" h="157163">
                    <a:moveTo>
                      <a:pt x="0" y="78581"/>
                    </a:moveTo>
                    <a:cubicBezTo>
                      <a:pt x="0" y="121981"/>
                      <a:pt x="35182" y="157163"/>
                      <a:pt x="78581" y="157163"/>
                    </a:cubicBezTo>
                    <a:cubicBezTo>
                      <a:pt x="121981" y="157163"/>
                      <a:pt x="157163" y="121981"/>
                      <a:pt x="157163" y="78581"/>
                    </a:cubicBezTo>
                    <a:cubicBezTo>
                      <a:pt x="157163" y="35182"/>
                      <a:pt x="121981" y="0"/>
                      <a:pt x="78581" y="0"/>
                    </a:cubicBezTo>
                    <a:cubicBezTo>
                      <a:pt x="35182" y="0"/>
                      <a:pt x="0" y="35182"/>
                      <a:pt x="0" y="78581"/>
                    </a:cubicBezTo>
                  </a:path>
                </a:pathLst>
              </a:custGeom>
              <a:noFill/>
              <a:ln w="19050">
                <a:solidFill>
                  <a:srgbClr val="8B857A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925513" y="3573463"/>
                <a:ext cx="349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34925">
                    <a:moveTo>
                      <a:pt x="0" y="0"/>
                    </a:moveTo>
                    <a:lnTo>
                      <a:pt x="34925" y="34925"/>
                    </a:lnTo>
                    <a:moveTo>
                      <a:pt x="34925" y="0"/>
                    </a:moveTo>
                    <a:lnTo>
                      <a:pt x="0" y="34925"/>
                    </a:lnTo>
                  </a:path>
                </a:pathLst>
              </a:custGeom>
              <a:noFill/>
              <a:ln w="19050">
                <a:solidFill>
                  <a:srgbClr val="8B857A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1152906" y="34632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1414"/>
                  </a:solidFill>
                  <a:latin typeface="Arial"/>
                  <a:ea typeface="Microsoft YaHei"/>
                  <a:cs typeface="Arial"/>
                </a:rPr>
                <a:t>代写英文文案</a:t>
              </a:r>
            </a:p>
          </p:txBody>
        </p:sp>
        <p:grpSp>
          <p:nvGrpSpPr>
            <p:cNvPr id="27" name="Group 27"/>
            <p:cNvGrpSpPr/>
            <p:nvPr/>
          </p:nvGrpSpPr>
          <p:grpSpPr>
            <a:xfrm>
              <a:off x="864394" y="4083844"/>
              <a:ext cx="157163" cy="157163"/>
              <a:chOff x="864394" y="4083844"/>
              <a:chExt cx="157163" cy="157163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864394" y="4083844"/>
                <a:ext cx="157163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157163" h="157163">
                    <a:moveTo>
                      <a:pt x="0" y="78581"/>
                    </a:moveTo>
                    <a:cubicBezTo>
                      <a:pt x="0" y="121981"/>
                      <a:pt x="35182" y="157163"/>
                      <a:pt x="78581" y="157163"/>
                    </a:cubicBezTo>
                    <a:cubicBezTo>
                      <a:pt x="121981" y="157163"/>
                      <a:pt x="157163" y="121981"/>
                      <a:pt x="157163" y="78581"/>
                    </a:cubicBezTo>
                    <a:cubicBezTo>
                      <a:pt x="157163" y="35182"/>
                      <a:pt x="121981" y="0"/>
                      <a:pt x="78581" y="0"/>
                    </a:cubicBezTo>
                    <a:cubicBezTo>
                      <a:pt x="35182" y="0"/>
                      <a:pt x="0" y="35182"/>
                      <a:pt x="0" y="78581"/>
                    </a:cubicBezTo>
                  </a:path>
                </a:pathLst>
              </a:custGeom>
              <a:noFill/>
              <a:ln w="19050">
                <a:solidFill>
                  <a:srgbClr val="8B857A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925513" y="4144963"/>
                <a:ext cx="349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34925">
                    <a:moveTo>
                      <a:pt x="0" y="0"/>
                    </a:moveTo>
                    <a:lnTo>
                      <a:pt x="34925" y="34925"/>
                    </a:lnTo>
                    <a:moveTo>
                      <a:pt x="34925" y="0"/>
                    </a:moveTo>
                    <a:lnTo>
                      <a:pt x="0" y="34925"/>
                    </a:lnTo>
                  </a:path>
                </a:pathLst>
              </a:custGeom>
              <a:noFill/>
              <a:ln w="19050">
                <a:solidFill>
                  <a:srgbClr val="8B857A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1152906" y="4034790"/>
              <a:ext cx="43708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1414"/>
                  </a:solidFill>
                  <a:latin typeface="Arial"/>
                  <a:ea typeface="Microsoft YaHei"/>
                  <a:cs typeface="Arial"/>
                </a:rPr>
                <a:t>让 AI 扮游客挑毛病</a:t>
              </a:r>
              <a:r>
                <a:rPr lang="zh-CN" sz="1350" dirty="0">
                  <a:solidFill>
                    <a:srgbClr val="57534A"/>
                  </a:solidFill>
                  <a:latin typeface="Arial"/>
                  <a:ea typeface="Microsoft YaHei"/>
                  <a:cs typeface="Arial"/>
                </a:rPr>
                <a:t xml:space="preserve"> ——别人做出来了，不新鲜</a:t>
              </a:r>
            </a:p>
          </p:txBody>
        </p:sp>
        <p:grpSp>
          <p:nvGrpSpPr>
            <p:cNvPr id="31" name="Group 31"/>
            <p:cNvGrpSpPr/>
            <p:nvPr/>
          </p:nvGrpSpPr>
          <p:grpSpPr>
            <a:xfrm>
              <a:off x="864394" y="4655344"/>
              <a:ext cx="157163" cy="157163"/>
              <a:chOff x="864394" y="4655344"/>
              <a:chExt cx="157163" cy="157163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864394" y="4655344"/>
                <a:ext cx="157163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157163" h="157163">
                    <a:moveTo>
                      <a:pt x="0" y="78581"/>
                    </a:moveTo>
                    <a:cubicBezTo>
                      <a:pt x="0" y="121981"/>
                      <a:pt x="35182" y="157163"/>
                      <a:pt x="78581" y="157163"/>
                    </a:cubicBezTo>
                    <a:cubicBezTo>
                      <a:pt x="121981" y="157163"/>
                      <a:pt x="157163" y="121981"/>
                      <a:pt x="157163" y="78581"/>
                    </a:cubicBezTo>
                    <a:cubicBezTo>
                      <a:pt x="157163" y="35182"/>
                      <a:pt x="121981" y="0"/>
                      <a:pt x="78581" y="0"/>
                    </a:cubicBezTo>
                    <a:cubicBezTo>
                      <a:pt x="35182" y="0"/>
                      <a:pt x="0" y="35182"/>
                      <a:pt x="0" y="78581"/>
                    </a:cubicBezTo>
                  </a:path>
                </a:pathLst>
              </a:custGeom>
              <a:noFill/>
              <a:ln w="19050">
                <a:solidFill>
                  <a:srgbClr val="8B857A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925513" y="4716463"/>
                <a:ext cx="349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34925">
                    <a:moveTo>
                      <a:pt x="0" y="0"/>
                    </a:moveTo>
                    <a:lnTo>
                      <a:pt x="34925" y="34925"/>
                    </a:lnTo>
                    <a:moveTo>
                      <a:pt x="34925" y="0"/>
                    </a:moveTo>
                    <a:lnTo>
                      <a:pt x="0" y="34925"/>
                    </a:lnTo>
                  </a:path>
                </a:pathLst>
              </a:custGeom>
              <a:noFill/>
              <a:ln w="19050">
                <a:solidFill>
                  <a:srgbClr val="8B857A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152906" y="46062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1414"/>
                  </a:solidFill>
                  <a:latin typeface="Arial"/>
                  <a:ea typeface="Microsoft YaHei"/>
                  <a:cs typeface="Arial"/>
                </a:rPr>
                <a:t>一键生成英文官网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6286500" y="1714500"/>
            <a:ext cx="5295900" cy="3429000"/>
            <a:chOff x="6286500" y="1714500"/>
            <a:chExt cx="5295900" cy="3429000"/>
          </a:xfrm>
        </p:grpSpPr>
        <p:sp>
          <p:nvSpPr>
            <p:cNvPr id="34" name="Rectangle 34"/>
            <p:cNvSpPr/>
            <p:nvPr/>
          </p:nvSpPr>
          <p:spPr>
            <a:xfrm>
              <a:off x="6286500" y="1714500"/>
              <a:ext cx="5295900" cy="342900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D9D4C9"/>
              </a:solidFill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6543675" y="1876425"/>
              <a:ext cx="171450" cy="171450"/>
              <a:chOff x="6543675" y="1876425"/>
              <a:chExt cx="171450" cy="17145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6543675" y="1876425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0" y="85725"/>
                    </a:moveTo>
                    <a:cubicBezTo>
                      <a:pt x="0" y="133070"/>
                      <a:pt x="38380" y="171450"/>
                      <a:pt x="85725" y="171450"/>
                    </a:cubicBezTo>
                    <a:cubicBezTo>
                      <a:pt x="133070" y="171450"/>
                      <a:pt x="171450" y="133070"/>
                      <a:pt x="171450" y="85725"/>
                    </a:cubicBezTo>
                    <a:cubicBezTo>
                      <a:pt x="171450" y="38380"/>
                      <a:pt x="133070" y="0"/>
                      <a:pt x="85725" y="0"/>
                    </a:cubicBezTo>
                    <a:cubicBezTo>
                      <a:pt x="38380" y="0"/>
                      <a:pt x="0" y="38380"/>
                      <a:pt x="0" y="85725"/>
                    </a:cubicBezTo>
                  </a:path>
                </a:pathLst>
              </a:custGeom>
              <a:noFill/>
              <a:ln w="19050">
                <a:solidFill>
                  <a:srgbClr val="1F7A4D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600825" y="1943100"/>
                <a:ext cx="5715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38100">
                    <a:moveTo>
                      <a:pt x="0" y="19050"/>
                    </a:moveTo>
                    <a:lnTo>
                      <a:pt x="19050" y="38100"/>
                    </a:ln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1F7A4D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6848856" y="18249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11111"/>
                  </a:solidFill>
                  <a:latin typeface="Arial"/>
                  <a:ea typeface="Microsoft YaHei"/>
                  <a:cs typeface="Arial"/>
                </a:rPr>
                <a:t>我们交付的是</a:t>
              </a:r>
            </a:p>
          </p:txBody>
        </p:sp>
        <p:grpSp>
          <p:nvGrpSpPr>
            <p:cNvPr id="41" name="Group 41"/>
            <p:cNvGrpSpPr/>
            <p:nvPr/>
          </p:nvGrpSpPr>
          <p:grpSpPr>
            <a:xfrm>
              <a:off x="6541294" y="2369344"/>
              <a:ext cx="157163" cy="157163"/>
              <a:chOff x="6541294" y="2369344"/>
              <a:chExt cx="157163" cy="157163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6541294" y="2369344"/>
                <a:ext cx="157163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157163" h="157163">
                    <a:moveTo>
                      <a:pt x="0" y="78581"/>
                    </a:moveTo>
                    <a:cubicBezTo>
                      <a:pt x="0" y="121981"/>
                      <a:pt x="35182" y="157163"/>
                      <a:pt x="78581" y="157163"/>
                    </a:cubicBezTo>
                    <a:cubicBezTo>
                      <a:pt x="121981" y="157163"/>
                      <a:pt x="157163" y="121981"/>
                      <a:pt x="157163" y="78581"/>
                    </a:cubicBezTo>
                    <a:cubicBezTo>
                      <a:pt x="157163" y="35182"/>
                      <a:pt x="121981" y="0"/>
                      <a:pt x="78581" y="0"/>
                    </a:cubicBezTo>
                    <a:cubicBezTo>
                      <a:pt x="35182" y="0"/>
                      <a:pt x="0" y="35182"/>
                      <a:pt x="0" y="78581"/>
                    </a:cubicBezTo>
                  </a:path>
                </a:pathLst>
              </a:custGeom>
              <a:noFill/>
              <a:ln w="19050">
                <a:solidFill>
                  <a:srgbClr val="1F7A4D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593681" y="2430463"/>
                <a:ext cx="52388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34925">
                    <a:moveTo>
                      <a:pt x="0" y="17463"/>
                    </a:moveTo>
                    <a:lnTo>
                      <a:pt x="17463" y="34925"/>
                    </a:lnTo>
                    <a:lnTo>
                      <a:pt x="52388" y="0"/>
                    </a:lnTo>
                  </a:path>
                </a:pathLst>
              </a:custGeom>
              <a:noFill/>
              <a:ln w="19050">
                <a:solidFill>
                  <a:srgbClr val="1F7A4D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6829806" y="2320290"/>
              <a:ext cx="34228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1414"/>
                  </a:solidFill>
                  <a:latin typeface="Arial"/>
                  <a:ea typeface="Microsoft YaHei"/>
                  <a:cs typeface="Arial"/>
                </a:rPr>
                <a:t>有据可查的体检</a:t>
              </a:r>
              <a:r>
                <a:rPr lang="zh-CN" sz="1350" dirty="0">
                  <a:solidFill>
                    <a:srgbClr val="57534A"/>
                  </a:solidFill>
                  <a:latin typeface="Arial"/>
                  <a:ea typeface="Microsoft YaHei"/>
                  <a:cs typeface="Arial"/>
                </a:rPr>
                <a:t xml:space="preserve"> ——照检查单一条条过</a:t>
              </a:r>
            </a:p>
          </p:txBody>
        </p:sp>
        <p:grpSp>
          <p:nvGrpSpPr>
            <p:cNvPr id="45" name="Group 45"/>
            <p:cNvGrpSpPr/>
            <p:nvPr/>
          </p:nvGrpSpPr>
          <p:grpSpPr>
            <a:xfrm>
              <a:off x="6541294" y="2940844"/>
              <a:ext cx="157163" cy="157163"/>
              <a:chOff x="6541294" y="2940844"/>
              <a:chExt cx="157163" cy="157163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6541294" y="2940844"/>
                <a:ext cx="157163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157163" h="157163">
                    <a:moveTo>
                      <a:pt x="0" y="78581"/>
                    </a:moveTo>
                    <a:cubicBezTo>
                      <a:pt x="0" y="121981"/>
                      <a:pt x="35182" y="157163"/>
                      <a:pt x="78581" y="157163"/>
                    </a:cubicBezTo>
                    <a:cubicBezTo>
                      <a:pt x="121981" y="157163"/>
                      <a:pt x="157163" y="121981"/>
                      <a:pt x="157163" y="78581"/>
                    </a:cubicBezTo>
                    <a:cubicBezTo>
                      <a:pt x="157163" y="35182"/>
                      <a:pt x="121981" y="0"/>
                      <a:pt x="78581" y="0"/>
                    </a:cubicBezTo>
                    <a:cubicBezTo>
                      <a:pt x="35182" y="0"/>
                      <a:pt x="0" y="35182"/>
                      <a:pt x="0" y="78581"/>
                    </a:cubicBezTo>
                  </a:path>
                </a:pathLst>
              </a:custGeom>
              <a:noFill/>
              <a:ln w="19050">
                <a:solidFill>
                  <a:srgbClr val="1F7A4D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593681" y="3001963"/>
                <a:ext cx="52388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34925">
                    <a:moveTo>
                      <a:pt x="0" y="17463"/>
                    </a:moveTo>
                    <a:lnTo>
                      <a:pt x="17463" y="34925"/>
                    </a:lnTo>
                    <a:lnTo>
                      <a:pt x="52388" y="0"/>
                    </a:lnTo>
                  </a:path>
                </a:pathLst>
              </a:custGeom>
              <a:noFill/>
              <a:ln w="19050">
                <a:solidFill>
                  <a:srgbClr val="1F7A4D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6829806" y="2891790"/>
              <a:ext cx="384688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1414"/>
                  </a:solidFill>
                  <a:latin typeface="Arial"/>
                  <a:ea typeface="Microsoft YaHei"/>
                  <a:cs typeface="Arial"/>
                </a:rPr>
                <a:t>带证据的问题清单</a:t>
              </a:r>
              <a:r>
                <a:rPr lang="zh-CN" sz="1350" dirty="0">
                  <a:solidFill>
                    <a:srgbClr val="57534A"/>
                  </a:solidFill>
                  <a:latin typeface="Arial"/>
                  <a:ea typeface="Microsoft YaHei"/>
                  <a:cs typeface="Arial"/>
                </a:rPr>
                <a:t xml:space="preserve"> ——每条挂着看过的材料</a:t>
              </a:r>
            </a:p>
          </p:txBody>
        </p:sp>
        <p:grpSp>
          <p:nvGrpSpPr>
            <p:cNvPr id="49" name="Group 49"/>
            <p:cNvGrpSpPr/>
            <p:nvPr/>
          </p:nvGrpSpPr>
          <p:grpSpPr>
            <a:xfrm>
              <a:off x="6541294" y="3512344"/>
              <a:ext cx="157163" cy="157163"/>
              <a:chOff x="6541294" y="3512344"/>
              <a:chExt cx="157163" cy="157163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6541294" y="3512344"/>
                <a:ext cx="157163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157163" h="157163">
                    <a:moveTo>
                      <a:pt x="0" y="78581"/>
                    </a:moveTo>
                    <a:cubicBezTo>
                      <a:pt x="0" y="121981"/>
                      <a:pt x="35182" y="157163"/>
                      <a:pt x="78581" y="157163"/>
                    </a:cubicBezTo>
                    <a:cubicBezTo>
                      <a:pt x="121981" y="157163"/>
                      <a:pt x="157163" y="121981"/>
                      <a:pt x="157163" y="78581"/>
                    </a:cubicBezTo>
                    <a:cubicBezTo>
                      <a:pt x="157163" y="35182"/>
                      <a:pt x="121981" y="0"/>
                      <a:pt x="78581" y="0"/>
                    </a:cubicBezTo>
                    <a:cubicBezTo>
                      <a:pt x="35182" y="0"/>
                      <a:pt x="0" y="35182"/>
                      <a:pt x="0" y="78581"/>
                    </a:cubicBezTo>
                  </a:path>
                </a:pathLst>
              </a:custGeom>
              <a:noFill/>
              <a:ln w="19050">
                <a:solidFill>
                  <a:srgbClr val="1F7A4D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6593681" y="3573463"/>
                <a:ext cx="52388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34925">
                    <a:moveTo>
                      <a:pt x="0" y="17463"/>
                    </a:moveTo>
                    <a:lnTo>
                      <a:pt x="17463" y="34925"/>
                    </a:lnTo>
                    <a:lnTo>
                      <a:pt x="52388" y="0"/>
                    </a:lnTo>
                  </a:path>
                </a:pathLst>
              </a:custGeom>
              <a:noFill/>
              <a:ln w="19050">
                <a:solidFill>
                  <a:srgbClr val="1F7A4D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6829806" y="3463290"/>
              <a:ext cx="371966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1414"/>
                  </a:solidFill>
                  <a:latin typeface="Arial"/>
                  <a:ea typeface="Microsoft YaHei"/>
                  <a:cs typeface="Arial"/>
                </a:rPr>
                <a:t>盯进度的整改任务</a:t>
              </a:r>
              <a:r>
                <a:rPr lang="zh-CN" sz="1350" dirty="0">
                  <a:solidFill>
                    <a:srgbClr val="57534A"/>
                  </a:solidFill>
                  <a:latin typeface="Arial"/>
                  <a:ea typeface="Microsoft YaHei"/>
                  <a:cs typeface="Arial"/>
                </a:rPr>
                <a:t xml:space="preserve"> ——发现 → 认领 → 改好</a:t>
              </a:r>
            </a:p>
          </p:txBody>
        </p:sp>
        <p:grpSp>
          <p:nvGrpSpPr>
            <p:cNvPr id="53" name="Group 53"/>
            <p:cNvGrpSpPr/>
            <p:nvPr/>
          </p:nvGrpSpPr>
          <p:grpSpPr>
            <a:xfrm>
              <a:off x="6541294" y="4083844"/>
              <a:ext cx="157163" cy="157163"/>
              <a:chOff x="6541294" y="4083844"/>
              <a:chExt cx="157163" cy="157163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6541294" y="4083844"/>
                <a:ext cx="157163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157163" h="157163">
                    <a:moveTo>
                      <a:pt x="0" y="78581"/>
                    </a:moveTo>
                    <a:cubicBezTo>
                      <a:pt x="0" y="121981"/>
                      <a:pt x="35182" y="157163"/>
                      <a:pt x="78581" y="157163"/>
                    </a:cubicBezTo>
                    <a:cubicBezTo>
                      <a:pt x="121981" y="157163"/>
                      <a:pt x="157163" y="121981"/>
                      <a:pt x="157163" y="78581"/>
                    </a:cubicBezTo>
                    <a:cubicBezTo>
                      <a:pt x="157163" y="35182"/>
                      <a:pt x="121981" y="0"/>
                      <a:pt x="78581" y="0"/>
                    </a:cubicBezTo>
                    <a:cubicBezTo>
                      <a:pt x="35182" y="0"/>
                      <a:pt x="0" y="35182"/>
                      <a:pt x="0" y="78581"/>
                    </a:cubicBezTo>
                  </a:path>
                </a:pathLst>
              </a:custGeom>
              <a:noFill/>
              <a:ln w="19050">
                <a:solidFill>
                  <a:srgbClr val="1F7A4D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6593681" y="4144963"/>
                <a:ext cx="52388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34925">
                    <a:moveTo>
                      <a:pt x="0" y="17463"/>
                    </a:moveTo>
                    <a:lnTo>
                      <a:pt x="17463" y="34925"/>
                    </a:lnTo>
                    <a:lnTo>
                      <a:pt x="52388" y="0"/>
                    </a:lnTo>
                  </a:path>
                </a:pathLst>
              </a:custGeom>
              <a:noFill/>
              <a:ln w="19050">
                <a:solidFill>
                  <a:srgbClr val="1F7A4D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6829806" y="4034790"/>
              <a:ext cx="354398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1414"/>
                  </a:solidFill>
                  <a:latin typeface="Arial"/>
                  <a:ea typeface="Microsoft YaHei"/>
                  <a:cs typeface="Arial"/>
                </a:rPr>
                <a:t>复测前后对比</a:t>
              </a:r>
              <a:r>
                <a:rPr lang="zh-CN" sz="1350" dirty="0">
                  <a:solidFill>
                    <a:srgbClr val="57534A"/>
                  </a:solidFill>
                  <a:latin typeface="Arial"/>
                  <a:ea typeface="Microsoft YaHei"/>
                  <a:cs typeface="Arial"/>
                </a:rPr>
                <a:t xml:space="preserve"> ——新跑一遍，旧报告不动</a:t>
              </a:r>
            </a:p>
          </p:txBody>
        </p:sp>
        <p:grpSp>
          <p:nvGrpSpPr>
            <p:cNvPr id="57" name="Group 57"/>
            <p:cNvGrpSpPr/>
            <p:nvPr/>
          </p:nvGrpSpPr>
          <p:grpSpPr>
            <a:xfrm>
              <a:off x="6541294" y="4655344"/>
              <a:ext cx="157163" cy="157163"/>
              <a:chOff x="6541294" y="4655344"/>
              <a:chExt cx="157163" cy="157163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6541294" y="4655344"/>
                <a:ext cx="157163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157163" h="157163">
                    <a:moveTo>
                      <a:pt x="0" y="78581"/>
                    </a:moveTo>
                    <a:cubicBezTo>
                      <a:pt x="0" y="121981"/>
                      <a:pt x="35182" y="157163"/>
                      <a:pt x="78581" y="157163"/>
                    </a:cubicBezTo>
                    <a:cubicBezTo>
                      <a:pt x="121981" y="157163"/>
                      <a:pt x="157163" y="121981"/>
                      <a:pt x="157163" y="78581"/>
                    </a:cubicBezTo>
                    <a:cubicBezTo>
                      <a:pt x="157163" y="35182"/>
                      <a:pt x="121981" y="0"/>
                      <a:pt x="78581" y="0"/>
                    </a:cubicBezTo>
                    <a:cubicBezTo>
                      <a:pt x="35182" y="0"/>
                      <a:pt x="0" y="35182"/>
                      <a:pt x="0" y="78581"/>
                    </a:cubicBezTo>
                  </a:path>
                </a:pathLst>
              </a:custGeom>
              <a:noFill/>
              <a:ln w="19050">
                <a:solidFill>
                  <a:srgbClr val="1F7A4D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6593681" y="4716463"/>
                <a:ext cx="52388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34925">
                    <a:moveTo>
                      <a:pt x="0" y="17463"/>
                    </a:moveTo>
                    <a:lnTo>
                      <a:pt x="17463" y="34925"/>
                    </a:lnTo>
                    <a:lnTo>
                      <a:pt x="52388" y="0"/>
                    </a:lnTo>
                  </a:path>
                </a:pathLst>
              </a:custGeom>
              <a:noFill/>
              <a:ln w="19050">
                <a:solidFill>
                  <a:srgbClr val="1F7A4D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6829806" y="4606290"/>
              <a:ext cx="330167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1414"/>
                  </a:solidFill>
                  <a:latin typeface="Arial"/>
                  <a:ea typeface="Microsoft YaHei"/>
                  <a:cs typeface="Arial"/>
                </a:rPr>
                <a:t>留档的历史</a:t>
              </a:r>
              <a:r>
                <a:rPr lang="zh-CN" sz="1350" dirty="0">
                  <a:solidFill>
                    <a:srgbClr val="57534A"/>
                  </a:solidFill>
                  <a:latin typeface="Arial"/>
                  <a:ea typeface="Microsoft YaHei"/>
                  <a:cs typeface="Arial"/>
                </a:rPr>
                <a:t xml:space="preserve"> ——哪天查过什么，可回看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600456" y="5486400"/>
            <a:ext cx="10981944" cy="576834"/>
            <a:chOff x="600456" y="5486400"/>
            <a:chExt cx="10981944" cy="576834"/>
          </a:xfrm>
        </p:grpSpPr>
        <p:sp>
          <p:nvSpPr>
            <p:cNvPr id="60" name="Line 60"/>
            <p:cNvSpPr/>
            <p:nvPr/>
          </p:nvSpPr>
          <p:spPr>
            <a:xfrm>
              <a:off x="609600" y="5486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ECE9E1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00456" y="5711190"/>
              <a:ext cx="841094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1414"/>
                  </a:solidFill>
                  <a:latin typeface="Arial"/>
                  <a:ea typeface="Microsoft YaHei"/>
                  <a:cs typeface="Arial"/>
                </a:rPr>
                <a:t>ChatGPT 能干的我们不碰；它给不了的</a:t>
              </a:r>
              <a:r>
                <a:rPr lang="zh-CN" sz="1800" b="1" dirty="0">
                  <a:solidFill>
                    <a:srgbClr val="D5451B"/>
                  </a:solidFill>
                  <a:latin typeface="Arial"/>
                  <a:ea typeface="Microsoft YaHei"/>
                  <a:cs typeface="Arial"/>
                </a:rPr>
                <a:t>标准、证据、复查</a:t>
              </a:r>
              <a:r>
                <a:rPr lang="zh-CN" sz="1800" dirty="0">
                  <a:solidFill>
                    <a:srgbClr val="141414"/>
                  </a:solidFill>
                  <a:latin typeface="Arial"/>
                  <a:ea typeface="Microsoft YaHei"/>
                  <a:cs typeface="Arial"/>
                </a:rPr>
                <a:t>，才是我们卖的。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604266" y="6497002"/>
            <a:ext cx="10983468" cy="205359"/>
            <a:chOff x="604266" y="6497002"/>
            <a:chExt cx="10983468" cy="205359"/>
          </a:xfrm>
        </p:grpSpPr>
        <p:sp>
          <p:nvSpPr>
            <p:cNvPr id="63" name="TextBox 63"/>
            <p:cNvSpPr txBox="1"/>
            <p:nvPr/>
          </p:nvSpPr>
          <p:spPr>
            <a:xfrm>
              <a:off x="604266" y="6497002"/>
              <a:ext cx="16586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857A"/>
                  </a:solidFill>
                  <a:latin typeface="Arial"/>
                  <a:ea typeface="Microsoft YaHei"/>
                  <a:cs typeface="Arial"/>
                </a:rPr>
                <a:t>Arrival Ready · 迎客验收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103540" y="64970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8B857A"/>
                  </a:solidFill>
                  <a:latin typeface="Arial"/>
                  <a:ea typeface="Arial"/>
                  <a:cs typeface="Arial"/>
                </a:rPr>
                <a:t>03 / 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98932" y="419100"/>
            <a:ext cx="10988802" cy="1060323"/>
            <a:chOff x="598932" y="419100"/>
            <a:chExt cx="10988802" cy="1060323"/>
          </a:xfrm>
        </p:grpSpPr>
        <p:sp>
          <p:nvSpPr>
            <p:cNvPr id="3" name="Rectangle 3"/>
            <p:cNvSpPr/>
            <p:nvPr/>
          </p:nvSpPr>
          <p:spPr>
            <a:xfrm>
              <a:off x="609600" y="495300"/>
              <a:ext cx="38100" cy="304800"/>
            </a:xfrm>
            <a:prstGeom prst="rect">
              <a:avLst/>
            </a:prstGeom>
            <a:solidFill>
              <a:srgbClr val="D5451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6760" y="419100"/>
              <a:ext cx="2998851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11111"/>
                  </a:solidFill>
                  <a:latin typeface="Arial"/>
                  <a:ea typeface="Microsoft YaHei"/>
                  <a:cs typeface="Arial"/>
                </a:rPr>
                <a:t>给店做一次体检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096348" y="458152"/>
              <a:ext cx="14913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spc="150" dirty="0">
                  <a:solidFill>
                    <a:srgbClr val="8B857A"/>
                  </a:solidFill>
                  <a:latin typeface="Arial"/>
                  <a:ea typeface="Microsoft YaHei"/>
                  <a:cs typeface="Arial"/>
                </a:rPr>
                <a:t>PART 2 · 怎么工作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8932" y="1068705"/>
              <a:ext cx="817595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141414"/>
                  </a:solidFill>
                  <a:latin typeface="Arial"/>
                  <a:ea typeface="Microsoft YaHei"/>
                  <a:cs typeface="Arial"/>
                </a:rPr>
                <a:t>材料交上来，AI 照检查单看，</a:t>
              </a:r>
              <a:r>
                <a:rPr lang="zh-CN" sz="2100" b="1" dirty="0">
                  <a:solidFill>
                    <a:srgbClr val="141414"/>
                  </a:solidFill>
                  <a:latin typeface="Arial"/>
                  <a:ea typeface="Microsoft YaHei"/>
                  <a:cs typeface="Arial"/>
                </a:rPr>
                <a:t>人签字</a:t>
              </a:r>
              <a:r>
                <a:rPr lang="zh-CN" sz="2100" dirty="0">
                  <a:solidFill>
                    <a:srgbClr val="141414"/>
                  </a:solidFill>
                  <a:latin typeface="Arial"/>
                  <a:ea typeface="Microsoft YaHei"/>
                  <a:cs typeface="Arial"/>
                </a:rPr>
                <a:t>，机器算分，改完复查。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552700" y="3381375"/>
            <a:ext cx="7077075" cy="1"/>
            <a:chOff x="2552700" y="3381375"/>
            <a:chExt cx="7077075" cy="1"/>
          </a:xfrm>
        </p:grpSpPr>
        <p:sp>
          <p:nvSpPr>
            <p:cNvPr id="8" name="Line 8"/>
            <p:cNvSpPr/>
            <p:nvPr/>
          </p:nvSpPr>
          <p:spPr>
            <a:xfrm>
              <a:off x="2552700" y="3381375"/>
              <a:ext cx="247650" cy="1"/>
            </a:xfrm>
            <a:prstGeom prst="line">
              <a:avLst/>
            </a:prstGeom>
            <a:noFill/>
            <a:ln w="14288">
              <a:solidFill>
                <a:srgbClr val="57534A"/>
              </a:solidFill>
              <a:tailEnd type="triangle" w="lg" len="lg"/>
            </a:ln>
          </p:spPr>
        </p:sp>
        <p:sp>
          <p:nvSpPr>
            <p:cNvPr id="9" name="Line 9"/>
            <p:cNvSpPr/>
            <p:nvPr/>
          </p:nvSpPr>
          <p:spPr>
            <a:xfrm>
              <a:off x="4829175" y="3381375"/>
              <a:ext cx="247650" cy="1"/>
            </a:xfrm>
            <a:prstGeom prst="line">
              <a:avLst/>
            </a:prstGeom>
            <a:noFill/>
            <a:ln w="14288">
              <a:solidFill>
                <a:srgbClr val="57534A"/>
              </a:solidFill>
              <a:tailEnd type="triangle" w="lg" len="lg"/>
            </a:ln>
          </p:spPr>
        </p:sp>
        <p:sp>
          <p:nvSpPr>
            <p:cNvPr id="10" name="Line 10"/>
            <p:cNvSpPr/>
            <p:nvPr/>
          </p:nvSpPr>
          <p:spPr>
            <a:xfrm>
              <a:off x="7105650" y="3381375"/>
              <a:ext cx="247650" cy="1"/>
            </a:xfrm>
            <a:prstGeom prst="line">
              <a:avLst/>
            </a:prstGeom>
            <a:noFill/>
            <a:ln w="14288">
              <a:solidFill>
                <a:srgbClr val="57534A"/>
              </a:solidFill>
              <a:tailEnd type="triangle" w="lg" len="lg"/>
            </a:ln>
          </p:spPr>
        </p:sp>
        <p:sp>
          <p:nvSpPr>
            <p:cNvPr id="11" name="Line 11"/>
            <p:cNvSpPr/>
            <p:nvPr/>
          </p:nvSpPr>
          <p:spPr>
            <a:xfrm>
              <a:off x="9382125" y="3381375"/>
              <a:ext cx="247650" cy="1"/>
            </a:xfrm>
            <a:prstGeom prst="line">
              <a:avLst/>
            </a:prstGeom>
            <a:noFill/>
            <a:ln w="14288">
              <a:solidFill>
                <a:srgbClr val="57534A"/>
              </a:solidFill>
              <a:tailEnd type="triangle" w="lg" len="lg"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609600" y="2190750"/>
            <a:ext cx="1866900" cy="2381250"/>
            <a:chOff x="609600" y="2190750"/>
            <a:chExt cx="1866900" cy="2381250"/>
          </a:xfrm>
        </p:grpSpPr>
        <p:sp>
          <p:nvSpPr>
            <p:cNvPr id="13" name="Rectangle 13"/>
            <p:cNvSpPr/>
            <p:nvPr/>
          </p:nvSpPr>
          <p:spPr>
            <a:xfrm>
              <a:off x="609600" y="2190750"/>
              <a:ext cx="1866900" cy="238125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D9D4C9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92480" y="239077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74C77"/>
                  </a:solidFill>
                  <a:latin typeface="Arial"/>
                  <a:ea typeface="Arial"/>
                  <a:cs typeface="Arial"/>
                </a:rPr>
                <a:t>01</a:t>
              </a:r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1984375" y="2447925"/>
              <a:ext cx="222250" cy="285751"/>
              <a:chOff x="1984375" y="2447925"/>
              <a:chExt cx="222250" cy="285751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2127250" y="2447925"/>
                <a:ext cx="79375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79375">
                    <a:moveTo>
                      <a:pt x="0" y="0"/>
                    </a:moveTo>
                    <a:lnTo>
                      <a:pt x="0" y="63500"/>
                    </a:lnTo>
                    <a:cubicBezTo>
                      <a:pt x="0" y="72268"/>
                      <a:pt x="7107" y="79375"/>
                      <a:pt x="15875" y="79375"/>
                    </a:cubicBezTo>
                    <a:lnTo>
                      <a:pt x="79375" y="79375"/>
                    </a:lnTo>
                  </a:path>
                </a:pathLst>
              </a:custGeom>
              <a:noFill/>
              <a:ln w="19050">
                <a:solidFill>
                  <a:srgbClr val="141414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1984375" y="2447925"/>
                <a:ext cx="222250" cy="285751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285751">
                    <a:moveTo>
                      <a:pt x="190500" y="285751"/>
                    </a:moveTo>
                    <a:lnTo>
                      <a:pt x="31750" y="285751"/>
                    </a:lnTo>
                    <a:cubicBezTo>
                      <a:pt x="14215" y="285751"/>
                      <a:pt x="0" y="271536"/>
                      <a:pt x="0" y="254001"/>
                    </a:cubicBezTo>
                    <a:lnTo>
                      <a:pt x="0" y="31750"/>
                    </a:lnTo>
                    <a:cubicBezTo>
                      <a:pt x="0" y="14215"/>
                      <a:pt x="14215" y="0"/>
                      <a:pt x="31750" y="0"/>
                    </a:cubicBezTo>
                    <a:lnTo>
                      <a:pt x="142875" y="0"/>
                    </a:lnTo>
                    <a:lnTo>
                      <a:pt x="222250" y="79375"/>
                    </a:lnTo>
                    <a:lnTo>
                      <a:pt x="222250" y="254001"/>
                    </a:lnTo>
                    <a:cubicBezTo>
                      <a:pt x="222250" y="271536"/>
                      <a:pt x="208035" y="285751"/>
                      <a:pt x="190500" y="285751"/>
                    </a:cubicBezTo>
                  </a:path>
                </a:pathLst>
              </a:custGeom>
              <a:noFill/>
              <a:ln w="19050">
                <a:solidFill>
                  <a:srgbClr val="141414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2047875" y="2543175"/>
                <a:ext cx="158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875" h="9525">
                    <a:moveTo>
                      <a:pt x="0" y="0"/>
                    </a:moveTo>
                    <a:lnTo>
                      <a:pt x="15875" y="0"/>
                    </a:lnTo>
                  </a:path>
                </a:pathLst>
              </a:custGeom>
              <a:noFill/>
              <a:ln w="19050">
                <a:solidFill>
                  <a:srgbClr val="141414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2047875" y="2606675"/>
                <a:ext cx="9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">
                    <a:moveTo>
                      <a:pt x="0" y="0"/>
                    </a:move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rgbClr val="141414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2047875" y="2670176"/>
                <a:ext cx="9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">
                    <a:moveTo>
                      <a:pt x="0" y="0"/>
                    </a:move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rgbClr val="141414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790956" y="291084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11111"/>
                  </a:solidFill>
                  <a:latin typeface="Arial"/>
                  <a:ea typeface="Microsoft YaHei"/>
                  <a:cs typeface="Arial"/>
                </a:rPr>
                <a:t>交材料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93242" y="3302318"/>
              <a:ext cx="1556766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rgbClr val="57534A"/>
                  </a:solidFill>
                  <a:latin typeface="Arial"/>
                  <a:ea typeface="Microsoft YaHei"/>
                  <a:cs typeface="Arial"/>
                </a:rPr>
                <a:t>照片、链接、说明；</a:t>
              </a:r>
              <a:r>
                <a:rPr lang="zh-CN" sz="1350" dirty="0">
                  <a:solidFill>
                    <a:srgbClr val="57534A"/>
                  </a:solidFill>
                  <a:latin typeface="Arial"/>
                  <a:ea typeface="Microsoft YaHei"/>
                  <a:cs typeface="Arial"/>
                </a:rPr>
                <a:t>进门就存档，</a:t>
              </a:r>
              <a:r>
                <a:rPr lang="zh-CN" sz="1350" dirty="0">
                  <a:solidFill>
                    <a:srgbClr val="57534A"/>
                  </a:solidFill>
                  <a:latin typeface="Arial"/>
                  <a:ea typeface="Microsoft YaHei"/>
                  <a:cs typeface="Arial"/>
                </a:rPr>
                <a:t>谁也换不掉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2886075" y="2190750"/>
            <a:ext cx="1866900" cy="2381250"/>
            <a:chOff x="2886075" y="2190750"/>
            <a:chExt cx="1866900" cy="2381250"/>
          </a:xfrm>
        </p:grpSpPr>
        <p:sp>
          <p:nvSpPr>
            <p:cNvPr id="24" name="Rectangle 24"/>
            <p:cNvSpPr/>
            <p:nvPr/>
          </p:nvSpPr>
          <p:spPr>
            <a:xfrm>
              <a:off x="2886075" y="2190750"/>
              <a:ext cx="1866900" cy="238125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D9D4C9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068955" y="239077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74C77"/>
                  </a:solidFill>
                  <a:latin typeface="Arial"/>
                  <a:ea typeface="Arial"/>
                  <a:cs typeface="Arial"/>
                </a:rPr>
                <a:t>02</a:t>
              </a:r>
            </a:p>
          </p:txBody>
        </p:sp>
        <p:grpSp>
          <p:nvGrpSpPr>
            <p:cNvPr id="35" name="Group 35"/>
            <p:cNvGrpSpPr/>
            <p:nvPr/>
          </p:nvGrpSpPr>
          <p:grpSpPr>
            <a:xfrm>
              <a:off x="4260850" y="2432050"/>
              <a:ext cx="222250" cy="301625"/>
              <a:chOff x="4260850" y="2432050"/>
              <a:chExt cx="222250" cy="301625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4276725" y="2463800"/>
                <a:ext cx="1905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27000">
                    <a:moveTo>
                      <a:pt x="0" y="31750"/>
                    </a:moveTo>
                    <a:cubicBezTo>
                      <a:pt x="0" y="14215"/>
                      <a:pt x="14215" y="0"/>
                      <a:pt x="31750" y="0"/>
                    </a:cubicBezTo>
                    <a:lnTo>
                      <a:pt x="158750" y="0"/>
                    </a:lnTo>
                    <a:cubicBezTo>
                      <a:pt x="176285" y="0"/>
                      <a:pt x="190500" y="14215"/>
                      <a:pt x="190500" y="31750"/>
                    </a:cubicBezTo>
                    <a:lnTo>
                      <a:pt x="190500" y="95250"/>
                    </a:lnTo>
                    <a:cubicBezTo>
                      <a:pt x="190500" y="112785"/>
                      <a:pt x="176285" y="127000"/>
                      <a:pt x="158750" y="127000"/>
                    </a:cubicBezTo>
                    <a:lnTo>
                      <a:pt x="31750" y="127000"/>
                    </a:lnTo>
                    <a:cubicBezTo>
                      <a:pt x="14215" y="127000"/>
                      <a:pt x="0" y="112785"/>
                      <a:pt x="0" y="95250"/>
                    </a:cubicBezTo>
                    <a:lnTo>
                      <a:pt x="0" y="31750"/>
                    </a:lnTo>
                  </a:path>
                </a:pathLst>
              </a:custGeom>
              <a:noFill/>
              <a:ln w="19050">
                <a:solidFill>
                  <a:srgbClr val="141414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4371975" y="2432050"/>
                <a:ext cx="95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750">
                    <a:moveTo>
                      <a:pt x="0" y="0"/>
                    </a:moveTo>
                    <a:lnTo>
                      <a:pt x="0" y="31750"/>
                    </a:lnTo>
                  </a:path>
                </a:pathLst>
              </a:custGeom>
              <a:noFill/>
              <a:ln w="19050">
                <a:solidFill>
                  <a:srgbClr val="141414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4324350" y="2590800"/>
                <a:ext cx="952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2875">
                    <a:moveTo>
                      <a:pt x="0" y="0"/>
                    </a:moveTo>
                    <a:lnTo>
                      <a:pt x="0" y="142875"/>
                    </a:lnTo>
                  </a:path>
                </a:pathLst>
              </a:custGeom>
              <a:noFill/>
              <a:ln w="19050">
                <a:solidFill>
                  <a:srgbClr val="141414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4419600" y="2590800"/>
                <a:ext cx="952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2875">
                    <a:moveTo>
                      <a:pt x="0" y="0"/>
                    </a:moveTo>
                    <a:lnTo>
                      <a:pt x="0" y="142875"/>
                    </a:lnTo>
                  </a:path>
                </a:pathLst>
              </a:custGeom>
              <a:noFill/>
              <a:ln w="19050">
                <a:solidFill>
                  <a:srgbClr val="141414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4260850" y="2622550"/>
                <a:ext cx="6350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31750">
                    <a:moveTo>
                      <a:pt x="0" y="31750"/>
                    </a:moveTo>
                    <a:lnTo>
                      <a:pt x="63500" y="0"/>
                    </a:lnTo>
                  </a:path>
                </a:pathLst>
              </a:custGeom>
              <a:noFill/>
              <a:ln w="19050">
                <a:solidFill>
                  <a:srgbClr val="141414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4419600" y="2622550"/>
                <a:ext cx="6350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31750">
                    <a:moveTo>
                      <a:pt x="0" y="0"/>
                    </a:moveTo>
                    <a:lnTo>
                      <a:pt x="63500" y="31750"/>
                    </a:lnTo>
                  </a:path>
                </a:pathLst>
              </a:custGeom>
              <a:noFill/>
              <a:ln w="19050">
                <a:solidFill>
                  <a:srgbClr val="141414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4324350" y="2686051"/>
                <a:ext cx="9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">
                    <a:moveTo>
                      <a:pt x="0" y="0"/>
                    </a:move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rgbClr val="141414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4340225" y="25273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59"/>
                    </a:lnTo>
                  </a:path>
                </a:pathLst>
              </a:custGeom>
              <a:noFill/>
              <a:ln w="19050">
                <a:solidFill>
                  <a:srgbClr val="141414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4403725" y="25273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59"/>
                    </a:lnTo>
                  </a:path>
                </a:pathLst>
              </a:custGeom>
              <a:noFill/>
              <a:ln w="19050">
                <a:solidFill>
                  <a:srgbClr val="141414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3067431" y="291084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11111"/>
                  </a:solidFill>
                  <a:latin typeface="Arial"/>
                  <a:ea typeface="Microsoft YaHei"/>
                  <a:cs typeface="Arial"/>
                </a:rPr>
                <a:t>照检查单看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069717" y="3302318"/>
              <a:ext cx="121386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rgbClr val="57534A"/>
                  </a:solidFill>
                  <a:latin typeface="Arial"/>
                  <a:ea typeface="Microsoft YaHei"/>
                  <a:cs typeface="Arial"/>
                </a:rPr>
                <a:t>一条条过，说清</a:t>
              </a:r>
              <a:r>
                <a:rPr lang="zh-CN" sz="1350" dirty="0">
                  <a:solidFill>
                    <a:srgbClr val="57534A"/>
                  </a:solidFill>
                  <a:latin typeface="Arial"/>
                  <a:ea typeface="Microsoft YaHei"/>
                  <a:cs typeface="Arial"/>
                </a:rPr>
                <a:t>看的哪张照片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162550" y="2190750"/>
            <a:ext cx="1866900" cy="2381250"/>
            <a:chOff x="5162550" y="2190750"/>
            <a:chExt cx="1866900" cy="2381250"/>
          </a:xfrm>
        </p:grpSpPr>
        <p:sp>
          <p:nvSpPr>
            <p:cNvPr id="39" name="Rectangle 39"/>
            <p:cNvSpPr/>
            <p:nvPr/>
          </p:nvSpPr>
          <p:spPr>
            <a:xfrm>
              <a:off x="5162550" y="2190750"/>
              <a:ext cx="1866900" cy="238125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D9D4C9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345430" y="239077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74C77"/>
                  </a:solidFill>
                  <a:latin typeface="Arial"/>
                  <a:ea typeface="Arial"/>
                  <a:cs typeface="Arial"/>
                </a:rPr>
                <a:t>03</a:t>
              </a:r>
            </a:p>
          </p:txBody>
        </p:sp>
        <p:grpSp>
          <p:nvGrpSpPr>
            <p:cNvPr id="43" name="Group 43"/>
            <p:cNvGrpSpPr/>
            <p:nvPr/>
          </p:nvGrpSpPr>
          <p:grpSpPr>
            <a:xfrm>
              <a:off x="6553200" y="2447925"/>
              <a:ext cx="190500" cy="285750"/>
              <a:chOff x="6553200" y="2447925"/>
              <a:chExt cx="190500" cy="28575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6584950" y="2447925"/>
                <a:ext cx="1270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27000">
                    <a:moveTo>
                      <a:pt x="0" y="63500"/>
                    </a:moveTo>
                    <a:cubicBezTo>
                      <a:pt x="0" y="98570"/>
                      <a:pt x="28430" y="127000"/>
                      <a:pt x="63500" y="127000"/>
                    </a:cubicBezTo>
                    <a:cubicBezTo>
                      <a:pt x="98570" y="127000"/>
                      <a:pt x="127000" y="98570"/>
                      <a:pt x="127000" y="63500"/>
                    </a:cubicBezTo>
                    <a:cubicBezTo>
                      <a:pt x="127000" y="28430"/>
                      <a:pt x="98570" y="0"/>
                      <a:pt x="63500" y="0"/>
                    </a:cubicBezTo>
                    <a:cubicBezTo>
                      <a:pt x="28430" y="0"/>
                      <a:pt x="0" y="28430"/>
                      <a:pt x="0" y="63500"/>
                    </a:cubicBezTo>
                  </a:path>
                </a:pathLst>
              </a:custGeom>
              <a:noFill/>
              <a:ln w="19050">
                <a:solidFill>
                  <a:srgbClr val="141414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553200" y="2638425"/>
                <a:ext cx="1905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0">
                    <a:moveTo>
                      <a:pt x="0" y="95250"/>
                    </a:moveTo>
                    <a:lnTo>
                      <a:pt x="0" y="63500"/>
                    </a:lnTo>
                    <a:cubicBezTo>
                      <a:pt x="0" y="28430"/>
                      <a:pt x="28430" y="0"/>
                      <a:pt x="63500" y="0"/>
                    </a:cubicBezTo>
                    <a:lnTo>
                      <a:pt x="127000" y="0"/>
                    </a:lnTo>
                    <a:cubicBezTo>
                      <a:pt x="162070" y="0"/>
                      <a:pt x="190500" y="28430"/>
                      <a:pt x="190500" y="63500"/>
                    </a:cubicBezTo>
                    <a:lnTo>
                      <a:pt x="190500" y="95250"/>
                    </a:lnTo>
                  </a:path>
                </a:pathLst>
              </a:custGeom>
              <a:noFill/>
              <a:ln w="19050">
                <a:solidFill>
                  <a:srgbClr val="141414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5343906" y="291084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11111"/>
                  </a:solidFill>
                  <a:latin typeface="Arial"/>
                  <a:ea typeface="Microsoft YaHei"/>
                  <a:cs typeface="Arial"/>
                </a:rPr>
                <a:t>人签字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346192" y="3302318"/>
              <a:ext cx="1436751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rgbClr val="57534A"/>
                  </a:solidFill>
                  <a:latin typeface="Arial"/>
                  <a:ea typeface="Microsoft YaHei"/>
                  <a:cs typeface="Arial"/>
                </a:rPr>
                <a:t>确认 / 改判 / 退回</a:t>
              </a:r>
              <a:r>
                <a:rPr lang="zh-CN" sz="1350" dirty="0">
                  <a:solidFill>
                    <a:srgbClr val="57534A"/>
                  </a:solidFill>
                  <a:latin typeface="Arial"/>
                  <a:ea typeface="Microsoft YaHei"/>
                  <a:cs typeface="Arial"/>
                </a:rPr>
                <a:t>/ 标不适用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7439025" y="2190750"/>
            <a:ext cx="1963293" cy="2381250"/>
            <a:chOff x="7439025" y="2190750"/>
            <a:chExt cx="1963293" cy="2381250"/>
          </a:xfrm>
        </p:grpSpPr>
        <p:sp>
          <p:nvSpPr>
            <p:cNvPr id="47" name="Rectangle 47"/>
            <p:cNvSpPr/>
            <p:nvPr/>
          </p:nvSpPr>
          <p:spPr>
            <a:xfrm>
              <a:off x="7439025" y="2190750"/>
              <a:ext cx="1866900" cy="238125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D9D4C9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7439025" y="2190750"/>
              <a:ext cx="1866900" cy="38100"/>
            </a:xfrm>
            <a:prstGeom prst="rect">
              <a:avLst/>
            </a:prstGeom>
            <a:solidFill>
              <a:srgbClr val="D5451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621905" y="239077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D5451B"/>
                  </a:solidFill>
                  <a:latin typeface="Arial"/>
                  <a:ea typeface="Arial"/>
                  <a:cs typeface="Arial"/>
                </a:rPr>
                <a:t>04</a:t>
              </a:r>
            </a:p>
          </p:txBody>
        </p:sp>
        <p:grpSp>
          <p:nvGrpSpPr>
            <p:cNvPr id="58" name="Group 58"/>
            <p:cNvGrpSpPr/>
            <p:nvPr/>
          </p:nvGrpSpPr>
          <p:grpSpPr>
            <a:xfrm>
              <a:off x="8797925" y="2447925"/>
              <a:ext cx="254001" cy="285751"/>
              <a:chOff x="8797925" y="2447925"/>
              <a:chExt cx="254001" cy="285751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8797925" y="2447925"/>
                <a:ext cx="254001" cy="285751"/>
              </a:xfrm>
              <a:custGeom>
                <a:avLst/>
                <a:gdLst/>
                <a:ahLst/>
                <a:cxnLst/>
                <a:rect l="l" t="t" r="r" b="b"/>
                <a:pathLst>
                  <a:path w="254001" h="285751">
                    <a:moveTo>
                      <a:pt x="0" y="31750"/>
                    </a:moveTo>
                    <a:cubicBezTo>
                      <a:pt x="0" y="14215"/>
                      <a:pt x="14215" y="0"/>
                      <a:pt x="31750" y="0"/>
                    </a:cubicBezTo>
                    <a:lnTo>
                      <a:pt x="222250" y="0"/>
                    </a:lnTo>
                    <a:cubicBezTo>
                      <a:pt x="239786" y="0"/>
                      <a:pt x="254001" y="14215"/>
                      <a:pt x="254001" y="31750"/>
                    </a:cubicBezTo>
                    <a:lnTo>
                      <a:pt x="254001" y="254001"/>
                    </a:lnTo>
                    <a:cubicBezTo>
                      <a:pt x="254001" y="271536"/>
                      <a:pt x="239786" y="285751"/>
                      <a:pt x="222250" y="285751"/>
                    </a:cubicBezTo>
                    <a:lnTo>
                      <a:pt x="31750" y="285751"/>
                    </a:lnTo>
                    <a:cubicBezTo>
                      <a:pt x="14215" y="285751"/>
                      <a:pt x="0" y="271536"/>
                      <a:pt x="0" y="254001"/>
                    </a:cubicBezTo>
                    <a:lnTo>
                      <a:pt x="0" y="31750"/>
                    </a:lnTo>
                  </a:path>
                </a:pathLst>
              </a:custGeom>
              <a:noFill/>
              <a:ln w="19050">
                <a:solidFill>
                  <a:srgbClr val="D5451B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861425" y="2511425"/>
                <a:ext cx="12700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47625">
                    <a:moveTo>
                      <a:pt x="0" y="15875"/>
                    </a:moveTo>
                    <a:cubicBezTo>
                      <a:pt x="0" y="7107"/>
                      <a:pt x="7107" y="0"/>
                      <a:pt x="15875" y="0"/>
                    </a:cubicBezTo>
                    <a:lnTo>
                      <a:pt x="111125" y="0"/>
                    </a:lnTo>
                    <a:cubicBezTo>
                      <a:pt x="119893" y="0"/>
                      <a:pt x="127000" y="7107"/>
                      <a:pt x="127000" y="15875"/>
                    </a:cubicBezTo>
                    <a:lnTo>
                      <a:pt x="127000" y="31750"/>
                    </a:lnTo>
                    <a:cubicBezTo>
                      <a:pt x="127000" y="40518"/>
                      <a:pt x="119893" y="47625"/>
                      <a:pt x="111125" y="47625"/>
                    </a:cubicBezTo>
                    <a:lnTo>
                      <a:pt x="15875" y="47625"/>
                    </a:lnTo>
                    <a:cubicBezTo>
                      <a:pt x="7107" y="47625"/>
                      <a:pt x="0" y="40518"/>
                      <a:pt x="0" y="31750"/>
                    </a:cubicBezTo>
                    <a:lnTo>
                      <a:pt x="0" y="15875"/>
                    </a:lnTo>
                  </a:path>
                </a:pathLst>
              </a:custGeom>
              <a:noFill/>
              <a:ln w="19050">
                <a:solidFill>
                  <a:srgbClr val="D5451B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861425" y="26225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59"/>
                    </a:lnTo>
                  </a:path>
                </a:pathLst>
              </a:custGeom>
              <a:noFill/>
              <a:ln w="19050">
                <a:solidFill>
                  <a:srgbClr val="D5451B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8924925" y="26225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59"/>
                    </a:lnTo>
                  </a:path>
                </a:pathLst>
              </a:custGeom>
              <a:noFill/>
              <a:ln w="19050">
                <a:solidFill>
                  <a:srgbClr val="D5451B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988426" y="26225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59"/>
                    </a:lnTo>
                  </a:path>
                </a:pathLst>
              </a:custGeom>
              <a:noFill/>
              <a:ln w="19050">
                <a:solidFill>
                  <a:srgbClr val="D5451B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861425" y="267017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59"/>
                    </a:lnTo>
                  </a:path>
                </a:pathLst>
              </a:custGeom>
              <a:noFill/>
              <a:ln w="19050">
                <a:solidFill>
                  <a:srgbClr val="D5451B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924925" y="267017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59"/>
                    </a:lnTo>
                  </a:path>
                </a:pathLst>
              </a:custGeom>
              <a:noFill/>
              <a:ln w="19050">
                <a:solidFill>
                  <a:srgbClr val="D5451B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8988426" y="267017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59"/>
                    </a:lnTo>
                  </a:path>
                </a:pathLst>
              </a:custGeom>
              <a:noFill/>
              <a:ln w="19050">
                <a:solidFill>
                  <a:srgbClr val="D5451B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7620381" y="29108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11111"/>
                  </a:solidFill>
                  <a:latin typeface="Arial"/>
                  <a:ea typeface="Microsoft YaHei"/>
                  <a:cs typeface="Arial"/>
                </a:rPr>
                <a:t>机器算分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622667" y="3302318"/>
              <a:ext cx="1779651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rgbClr val="57534A"/>
                  </a:solidFill>
                  <a:latin typeface="Arial"/>
                  <a:ea typeface="Microsoft YaHei"/>
                  <a:cs typeface="Arial"/>
                </a:rPr>
                <a:t>AI 只判「过 / 不过」，</a:t>
              </a:r>
              <a:r>
                <a:rPr lang="zh-CN" sz="1350" dirty="0">
                  <a:solidFill>
                    <a:srgbClr val="57534A"/>
                  </a:solidFill>
                  <a:latin typeface="Arial"/>
                  <a:ea typeface="Microsoft YaHei"/>
                  <a:cs typeface="Arial"/>
                </a:rPr>
                <a:t>总分程序</a:t>
              </a:r>
              <a:r>
                <a:rPr lang="zh-CN" sz="1350" dirty="0">
                  <a:solidFill>
                    <a:srgbClr val="57534A"/>
                  </a:solidFill>
                  <a:latin typeface="Arial"/>
                  <a:ea typeface="Microsoft YaHei"/>
                  <a:cs typeface="Arial"/>
                </a:rPr>
                <a:t>按权重算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9715500" y="2190750"/>
            <a:ext cx="1866900" cy="2381250"/>
            <a:chOff x="9715500" y="2190750"/>
            <a:chExt cx="1866900" cy="2381250"/>
          </a:xfrm>
        </p:grpSpPr>
        <p:sp>
          <p:nvSpPr>
            <p:cNvPr id="62" name="Rectangle 62"/>
            <p:cNvSpPr/>
            <p:nvPr/>
          </p:nvSpPr>
          <p:spPr>
            <a:xfrm>
              <a:off x="9715500" y="2190750"/>
              <a:ext cx="1866900" cy="238125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D9D4C9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9898380" y="239077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74C77"/>
                  </a:solidFill>
                  <a:latin typeface="Arial"/>
                  <a:ea typeface="Arial"/>
                  <a:cs typeface="Arial"/>
                </a:rPr>
                <a:t>05</a:t>
              </a:r>
            </a:p>
          </p:txBody>
        </p:sp>
        <p:grpSp>
          <p:nvGrpSpPr>
            <p:cNvPr id="66" name="Group 66"/>
            <p:cNvGrpSpPr/>
            <p:nvPr/>
          </p:nvGrpSpPr>
          <p:grpSpPr>
            <a:xfrm>
              <a:off x="11074400" y="2457675"/>
              <a:ext cx="254001" cy="266250"/>
              <a:chOff x="11074400" y="2457675"/>
              <a:chExt cx="254001" cy="266250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11074400" y="2457675"/>
                <a:ext cx="254001" cy="117250"/>
              </a:xfrm>
              <a:custGeom>
                <a:avLst/>
                <a:gdLst/>
                <a:ahLst/>
                <a:cxnLst/>
                <a:rect l="l" t="t" r="r" b="b"/>
                <a:pathLst>
                  <a:path w="254001" h="117250">
                    <a:moveTo>
                      <a:pt x="254001" y="117250"/>
                    </a:moveTo>
                    <a:cubicBezTo>
                      <a:pt x="246020" y="59823"/>
                      <a:pt x="200595" y="14839"/>
                      <a:pt x="143092" y="7420"/>
                    </a:cubicBezTo>
                    <a:cubicBezTo>
                      <a:pt x="85590" y="0"/>
                      <a:pt x="30234" y="31980"/>
                      <a:pt x="7938" y="85500"/>
                    </a:cubicBezTo>
                    <a:moveTo>
                      <a:pt x="0" y="22000"/>
                    </a:moveTo>
                    <a:lnTo>
                      <a:pt x="0" y="85500"/>
                    </a:lnTo>
                    <a:lnTo>
                      <a:pt x="63500" y="85500"/>
                    </a:lnTo>
                  </a:path>
                </a:pathLst>
              </a:custGeom>
              <a:noFill/>
              <a:ln w="19050">
                <a:solidFill>
                  <a:srgbClr val="141414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11074400" y="2606675"/>
                <a:ext cx="254001" cy="117250"/>
              </a:xfrm>
              <a:custGeom>
                <a:avLst/>
                <a:gdLst/>
                <a:ahLst/>
                <a:cxnLst/>
                <a:rect l="l" t="t" r="r" b="b"/>
                <a:pathLst>
                  <a:path w="254001" h="117250">
                    <a:moveTo>
                      <a:pt x="0" y="0"/>
                    </a:moveTo>
                    <a:cubicBezTo>
                      <a:pt x="7981" y="57427"/>
                      <a:pt x="53406" y="102411"/>
                      <a:pt x="110908" y="109831"/>
                    </a:cubicBezTo>
                    <a:cubicBezTo>
                      <a:pt x="168411" y="117250"/>
                      <a:pt x="223766" y="85271"/>
                      <a:pt x="246063" y="31750"/>
                    </a:cubicBezTo>
                    <a:moveTo>
                      <a:pt x="254001" y="95250"/>
                    </a:moveTo>
                    <a:lnTo>
                      <a:pt x="254001" y="31750"/>
                    </a:lnTo>
                    <a:lnTo>
                      <a:pt x="190500" y="31750"/>
                    </a:lnTo>
                  </a:path>
                </a:pathLst>
              </a:custGeom>
              <a:noFill/>
              <a:ln w="19050">
                <a:solidFill>
                  <a:srgbClr val="141414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9896856" y="2910840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11111"/>
                  </a:solidFill>
                  <a:latin typeface="Arial"/>
                  <a:ea typeface="Microsoft YaHei"/>
                  <a:cs typeface="Arial"/>
                </a:rPr>
                <a:t>复查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899142" y="3302318"/>
              <a:ext cx="121386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rgbClr val="57534A"/>
                  </a:solidFill>
                  <a:latin typeface="Arial"/>
                  <a:ea typeface="Microsoft YaHei"/>
                  <a:cs typeface="Arial"/>
                </a:rPr>
                <a:t>改完重测一遍，</a:t>
              </a:r>
              <a:r>
                <a:rPr lang="zh-CN" sz="1350" dirty="0">
                  <a:solidFill>
                    <a:srgbClr val="57534A"/>
                  </a:solidFill>
                  <a:latin typeface="Arial"/>
                  <a:ea typeface="Microsoft YaHei"/>
                  <a:cs typeface="Arial"/>
                </a:rPr>
                <a:t>旧报告原样留着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600456" y="5143500"/>
            <a:ext cx="11232490" cy="576834"/>
            <a:chOff x="600456" y="5143500"/>
            <a:chExt cx="11232490" cy="576834"/>
          </a:xfrm>
        </p:grpSpPr>
        <p:sp>
          <p:nvSpPr>
            <p:cNvPr id="70" name="Line 70"/>
            <p:cNvSpPr/>
            <p:nvPr/>
          </p:nvSpPr>
          <p:spPr>
            <a:xfrm>
              <a:off x="609600" y="51435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ECE9E1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00456" y="5368290"/>
              <a:ext cx="1123249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1414"/>
                  </a:solidFill>
                  <a:latin typeface="Arial"/>
                  <a:ea typeface="Microsoft YaHei"/>
                  <a:cs typeface="Arial"/>
                </a:rPr>
                <a:t>像去医院：挂号交材料 → 化验 → 医生签字出报告 → 复查对比。AI 只是会看片子的医生，</a:t>
              </a:r>
              <a:r>
                <a:rPr lang="zh-CN" sz="1800" b="1" dirty="0">
                  <a:solidFill>
                    <a:srgbClr val="D5451B"/>
                  </a:solidFill>
                  <a:latin typeface="Arial"/>
                  <a:ea typeface="Microsoft YaHei"/>
                  <a:cs typeface="Arial"/>
                </a:rPr>
                <a:t>不当院长</a:t>
              </a:r>
              <a:r>
                <a:rPr lang="zh-CN" sz="1800" dirty="0">
                  <a:solidFill>
                    <a:srgbClr val="141414"/>
                  </a:solidFill>
                  <a:latin typeface="Arial"/>
                  <a:ea typeface="Microsoft YaHei"/>
                  <a:cs typeface="Arial"/>
                </a:rPr>
                <a:t>。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604266" y="6497002"/>
            <a:ext cx="10983468" cy="205359"/>
            <a:chOff x="604266" y="6497002"/>
            <a:chExt cx="10983468" cy="205359"/>
          </a:xfrm>
        </p:grpSpPr>
        <p:sp>
          <p:nvSpPr>
            <p:cNvPr id="73" name="TextBox 73"/>
            <p:cNvSpPr txBox="1"/>
            <p:nvPr/>
          </p:nvSpPr>
          <p:spPr>
            <a:xfrm>
              <a:off x="604266" y="6497002"/>
              <a:ext cx="16586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857A"/>
                  </a:solidFill>
                  <a:latin typeface="Arial"/>
                  <a:ea typeface="Microsoft YaHei"/>
                  <a:cs typeface="Arial"/>
                </a:rPr>
                <a:t>Arrival Ready · 迎客验收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103540" y="64970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8B857A"/>
                  </a:solidFill>
                  <a:latin typeface="Arial"/>
                  <a:ea typeface="Arial"/>
                  <a:cs typeface="Arial"/>
                </a:rPr>
                <a:t>04 / 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98932" y="419100"/>
            <a:ext cx="10988802" cy="1060323"/>
            <a:chOff x="598932" y="419100"/>
            <a:chExt cx="10988802" cy="1060323"/>
          </a:xfrm>
        </p:grpSpPr>
        <p:sp>
          <p:nvSpPr>
            <p:cNvPr id="3" name="Rectangle 3"/>
            <p:cNvSpPr/>
            <p:nvPr/>
          </p:nvSpPr>
          <p:spPr>
            <a:xfrm>
              <a:off x="609600" y="495300"/>
              <a:ext cx="38100" cy="304800"/>
            </a:xfrm>
            <a:prstGeom prst="rect">
              <a:avLst/>
            </a:prstGeom>
            <a:solidFill>
              <a:srgbClr val="D5451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6760" y="419100"/>
              <a:ext cx="592241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11111"/>
                  </a:solidFill>
                  <a:latin typeface="Arial"/>
                  <a:ea typeface="Microsoft YaHei"/>
                  <a:cs typeface="Arial"/>
                </a:rPr>
                <a:t>分数是机器算的，AI 说了不算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096348" y="458152"/>
              <a:ext cx="14913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spc="150" dirty="0">
                  <a:solidFill>
                    <a:srgbClr val="8B857A"/>
                  </a:solidFill>
                  <a:latin typeface="Arial"/>
                  <a:ea typeface="Microsoft YaHei"/>
                  <a:cs typeface="Arial"/>
                </a:rPr>
                <a:t>PART 2 · 怎么工作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8932" y="1068705"/>
              <a:ext cx="105802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141414"/>
                  </a:solidFill>
                  <a:latin typeface="Arial"/>
                  <a:ea typeface="Microsoft YaHei"/>
                  <a:cs typeface="Arial"/>
                </a:rPr>
                <a:t>标准公开、权重写死在程序里、每次检查记版本——</a:t>
              </a:r>
              <a:r>
                <a:rPr lang="zh-CN" sz="2100" b="1" dirty="0">
                  <a:solidFill>
                    <a:srgbClr val="141414"/>
                  </a:solidFill>
                  <a:latin typeface="Arial"/>
                  <a:ea typeface="Microsoft YaHei"/>
                  <a:cs typeface="Arial"/>
                </a:rPr>
                <a:t>分数才可信</a:t>
              </a:r>
              <a:r>
                <a:rPr lang="zh-CN" sz="2100" dirty="0">
                  <a:solidFill>
                    <a:srgbClr val="141414"/>
                  </a:solidFill>
                  <a:latin typeface="Arial"/>
                  <a:ea typeface="Microsoft YaHei"/>
                  <a:cs typeface="Arial"/>
                </a:rPr>
                <a:t>，前后对比才有意义。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03504" y="1775460"/>
            <a:ext cx="5949696" cy="3720846"/>
            <a:chOff x="603504" y="1775460"/>
            <a:chExt cx="5949696" cy="3720846"/>
          </a:xfrm>
        </p:grpSpPr>
        <p:sp>
          <p:nvSpPr>
            <p:cNvPr id="8" name="TextBox 8"/>
            <p:cNvSpPr txBox="1"/>
            <p:nvPr/>
          </p:nvSpPr>
          <p:spPr>
            <a:xfrm>
              <a:off x="603504" y="1775460"/>
              <a:ext cx="44194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B857A"/>
                  </a:solidFill>
                  <a:latin typeface="Arial"/>
                  <a:ea typeface="Microsoft YaHei"/>
                  <a:cs typeface="Arial"/>
                </a:rPr>
                <a:t>IRRS 七维度权重（自研标准 v0.1 · 非官方认证 · 单位 %）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952500" y="2286000"/>
              <a:ext cx="5600700" cy="9525"/>
            </a:xfrm>
            <a:custGeom>
              <a:avLst/>
              <a:gdLst/>
              <a:ahLst/>
              <a:cxnLst/>
              <a:rect l="l" t="t" r="r" b="b"/>
              <a:pathLst>
                <a:path w="5600700" h="9525">
                  <a:moveTo>
                    <a:pt x="0" y="0"/>
                  </a:moveTo>
                  <a:lnTo>
                    <a:pt x="5600700" y="0"/>
                  </a:lnTo>
                </a:path>
              </a:pathLst>
            </a:custGeom>
            <a:noFill/>
            <a:ln w="9525">
              <a:solidFill>
                <a:srgbClr val="ECE9E1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952500" y="3000375"/>
              <a:ext cx="5600700" cy="9525"/>
            </a:xfrm>
            <a:custGeom>
              <a:avLst/>
              <a:gdLst/>
              <a:ahLst/>
              <a:cxnLst/>
              <a:rect l="l" t="t" r="r" b="b"/>
              <a:pathLst>
                <a:path w="5600700" h="9525">
                  <a:moveTo>
                    <a:pt x="0" y="0"/>
                  </a:moveTo>
                  <a:lnTo>
                    <a:pt x="5600700" y="0"/>
                  </a:lnTo>
                </a:path>
              </a:pathLst>
            </a:custGeom>
            <a:noFill/>
            <a:ln w="9525">
              <a:solidFill>
                <a:srgbClr val="ECE9E1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952500" y="3714750"/>
              <a:ext cx="5600700" cy="9525"/>
            </a:xfrm>
            <a:custGeom>
              <a:avLst/>
              <a:gdLst/>
              <a:ahLst/>
              <a:cxnLst/>
              <a:rect l="l" t="t" r="r" b="b"/>
              <a:pathLst>
                <a:path w="5600700" h="9525">
                  <a:moveTo>
                    <a:pt x="0" y="0"/>
                  </a:moveTo>
                  <a:lnTo>
                    <a:pt x="5600700" y="0"/>
                  </a:lnTo>
                </a:path>
              </a:pathLst>
            </a:custGeom>
            <a:noFill/>
            <a:ln w="9525">
              <a:solidFill>
                <a:srgbClr val="ECE9E1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952500" y="4429125"/>
              <a:ext cx="5600700" cy="9525"/>
            </a:xfrm>
            <a:custGeom>
              <a:avLst/>
              <a:gdLst/>
              <a:ahLst/>
              <a:cxnLst/>
              <a:rect l="l" t="t" r="r" b="b"/>
              <a:pathLst>
                <a:path w="5600700" h="9525">
                  <a:moveTo>
                    <a:pt x="0" y="0"/>
                  </a:moveTo>
                  <a:lnTo>
                    <a:pt x="5600700" y="0"/>
                  </a:lnTo>
                </a:path>
              </a:pathLst>
            </a:custGeom>
            <a:noFill/>
            <a:ln w="9525">
              <a:solidFill>
                <a:srgbClr val="ECE9E1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952500" y="5143500"/>
              <a:ext cx="5600700" cy="9525"/>
            </a:xfrm>
            <a:custGeom>
              <a:avLst/>
              <a:gdLst/>
              <a:ahLst/>
              <a:cxnLst/>
              <a:rect l="l" t="t" r="r" b="b"/>
              <a:pathLst>
                <a:path w="5600700" h="9525">
                  <a:moveTo>
                    <a:pt x="0" y="0"/>
                  </a:moveTo>
                  <a:lnTo>
                    <a:pt x="5600700" y="0"/>
                  </a:lnTo>
                </a:path>
              </a:pathLst>
            </a:custGeom>
            <a:noFill/>
            <a:ln w="9525">
              <a:solidFill>
                <a:srgbClr val="D9D4C9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305" y="506158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8B857A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305" y="434721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8B857A"/>
                  </a:solidFill>
                  <a:latin typeface="Arial"/>
                  <a:ea typeface="Arial"/>
                  <a:cs typeface="Arial"/>
                </a:rPr>
                <a:t>5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73456" y="3632835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8B857A"/>
                  </a:solidFill>
                  <a:latin typeface="Arial"/>
                  <a:ea typeface="Arial"/>
                  <a:cs typeface="Arial"/>
                </a:rPr>
                <a:t>10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73456" y="29184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8B857A"/>
                  </a:solidFill>
                  <a:latin typeface="Arial"/>
                  <a:ea typeface="Arial"/>
                  <a:cs typeface="Arial"/>
                </a:rPr>
                <a:t>15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73456" y="2204085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8B857A"/>
                  </a:solidFill>
                  <a:latin typeface="Arial"/>
                  <a:ea typeface="Arial"/>
                  <a:cs typeface="Arial"/>
                </a:rPr>
                <a:t>20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952500" y="2286000"/>
              <a:ext cx="9525" cy="2857500"/>
            </a:xfrm>
            <a:custGeom>
              <a:avLst/>
              <a:gdLst/>
              <a:ahLst/>
              <a:cxnLst/>
              <a:rect l="l" t="t" r="r" b="b"/>
              <a:pathLst>
                <a:path w="9525" h="2857500">
                  <a:moveTo>
                    <a:pt x="0" y="0"/>
                  </a:moveTo>
                  <a:lnTo>
                    <a:pt x="0" y="2857500"/>
                  </a:lnTo>
                </a:path>
              </a:pathLst>
            </a:custGeom>
            <a:noFill/>
            <a:ln w="14288">
              <a:solidFill>
                <a:srgbClr val="8B857A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952500" y="5143500"/>
              <a:ext cx="5600700" cy="9525"/>
            </a:xfrm>
            <a:custGeom>
              <a:avLst/>
              <a:gdLst/>
              <a:ahLst/>
              <a:cxnLst/>
              <a:rect l="l" t="t" r="r" b="b"/>
              <a:pathLst>
                <a:path w="5600700" h="9525">
                  <a:moveTo>
                    <a:pt x="0" y="0"/>
                  </a:moveTo>
                  <a:lnTo>
                    <a:pt x="5600700" y="0"/>
                  </a:lnTo>
                </a:path>
              </a:pathLst>
            </a:custGeom>
            <a:noFill/>
            <a:ln w="14288">
              <a:solidFill>
                <a:srgbClr val="8B857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1409700" y="3714750"/>
              <a:ext cx="342900" cy="1428750"/>
            </a:xfrm>
            <a:prstGeom prst="rect">
              <a:avLst/>
            </a:prstGeom>
            <a:solidFill>
              <a:srgbClr val="11111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481762" y="34899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41414"/>
                  </a:solidFill>
                  <a:latin typeface="Arial"/>
                  <a:ea typeface="Arial"/>
                  <a:cs typeface="Arial"/>
                </a:rPr>
                <a:t>10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332738" y="526161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7534A"/>
                  </a:solidFill>
                  <a:latin typeface="Arial"/>
                  <a:ea typeface="Microsoft YaHei"/>
                  <a:cs typeface="Arial"/>
                </a:rPr>
                <a:t>能找到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2181225" y="2286000"/>
              <a:ext cx="342900" cy="2857500"/>
            </a:xfrm>
            <a:prstGeom prst="rect">
              <a:avLst/>
            </a:prstGeom>
            <a:solidFill>
              <a:srgbClr val="274C77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253287" y="20612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74C77"/>
                  </a:solidFill>
                  <a:latin typeface="Arial"/>
                  <a:ea typeface="Arial"/>
                  <a:cs typeface="Arial"/>
                </a:rPr>
                <a:t>20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092147" y="5261610"/>
              <a:ext cx="5210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41414"/>
                  </a:solidFill>
                  <a:latin typeface="Arial"/>
                  <a:ea typeface="Microsoft YaHei"/>
                  <a:cs typeface="Arial"/>
                </a:rPr>
                <a:t>能看懂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2952750" y="3000375"/>
              <a:ext cx="342900" cy="2143125"/>
            </a:xfrm>
            <a:prstGeom prst="rect">
              <a:avLst/>
            </a:prstGeom>
            <a:solidFill>
              <a:srgbClr val="11111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024812" y="277558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41414"/>
                  </a:solidFill>
                  <a:latin typeface="Arial"/>
                  <a:ea typeface="Arial"/>
                  <a:cs typeface="Arial"/>
                </a:rPr>
                <a:t>15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875788" y="526161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7534A"/>
                  </a:solidFill>
                  <a:latin typeface="Arial"/>
                  <a:ea typeface="Microsoft YaHei"/>
                  <a:cs typeface="Arial"/>
                </a:rPr>
                <a:t>能决策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3724275" y="2286000"/>
              <a:ext cx="342900" cy="2857500"/>
            </a:xfrm>
            <a:prstGeom prst="rect">
              <a:avLst/>
            </a:prstGeom>
            <a:solidFill>
              <a:srgbClr val="274C77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796337" y="20612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74C77"/>
                  </a:solidFill>
                  <a:latin typeface="Arial"/>
                  <a:ea typeface="Arial"/>
                  <a:cs typeface="Arial"/>
                </a:rPr>
                <a:t>20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635197" y="5261610"/>
              <a:ext cx="5210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41414"/>
                  </a:solidFill>
                  <a:latin typeface="Arial"/>
                  <a:ea typeface="Microsoft YaHei"/>
                  <a:cs typeface="Arial"/>
                </a:rPr>
                <a:t>能操作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4495800" y="3000375"/>
              <a:ext cx="342900" cy="2143125"/>
            </a:xfrm>
            <a:prstGeom prst="rect">
              <a:avLst/>
            </a:prstGeom>
            <a:solidFill>
              <a:srgbClr val="11111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567862" y="277558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41414"/>
                  </a:solidFill>
                  <a:latin typeface="Arial"/>
                  <a:ea typeface="Arial"/>
                  <a:cs typeface="Arial"/>
                </a:rPr>
                <a:t>15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418838" y="526161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7534A"/>
                  </a:solidFill>
                  <a:latin typeface="Arial"/>
                  <a:ea typeface="Microsoft YaHei"/>
                  <a:cs typeface="Arial"/>
                </a:rPr>
                <a:t>能付钱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267325" y="3714750"/>
              <a:ext cx="342900" cy="1428750"/>
            </a:xfrm>
            <a:prstGeom prst="rect">
              <a:avLst/>
            </a:prstGeom>
            <a:solidFill>
              <a:srgbClr val="11111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339387" y="34899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41414"/>
                  </a:solidFill>
                  <a:latin typeface="Arial"/>
                  <a:ea typeface="Arial"/>
                  <a:cs typeface="Arial"/>
                </a:rPr>
                <a:t>10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190363" y="526161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7534A"/>
                  </a:solidFill>
                  <a:latin typeface="Arial"/>
                  <a:ea typeface="Microsoft YaHei"/>
                  <a:cs typeface="Arial"/>
                </a:rPr>
                <a:t>能求助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038850" y="3714750"/>
              <a:ext cx="342900" cy="1428750"/>
            </a:xfrm>
            <a:prstGeom prst="rect">
              <a:avLst/>
            </a:prstGeom>
            <a:solidFill>
              <a:srgbClr val="111111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110912" y="34899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41414"/>
                  </a:solidFill>
                  <a:latin typeface="Arial"/>
                  <a:ea typeface="Arial"/>
                  <a:cs typeface="Arial"/>
                </a:rPr>
                <a:t>10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881116" y="52616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7534A"/>
                  </a:solidFill>
                  <a:latin typeface="Arial"/>
                  <a:ea typeface="Microsoft YaHei"/>
                  <a:cs typeface="Arial"/>
                </a:rPr>
                <a:t>离店延续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7039356" y="1863090"/>
            <a:ext cx="4079596" cy="2561844"/>
            <a:chOff x="7039356" y="1863090"/>
            <a:chExt cx="4079596" cy="2561844"/>
          </a:xfrm>
        </p:grpSpPr>
        <p:sp>
          <p:nvSpPr>
            <p:cNvPr id="43" name="TextBox 43"/>
            <p:cNvSpPr txBox="1"/>
            <p:nvPr/>
          </p:nvSpPr>
          <p:spPr>
            <a:xfrm>
              <a:off x="7039356" y="1863090"/>
              <a:ext cx="28170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11111"/>
                  </a:solidFill>
                  <a:latin typeface="Arial"/>
                  <a:ea typeface="Microsoft YaHei"/>
                  <a:cs typeface="Arial"/>
                </a:rPr>
                <a:t>算分规矩，写死在程序里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7048500" y="2228850"/>
              <a:ext cx="266700" cy="266700"/>
            </a:xfrm>
            <a:prstGeom prst="ellipse">
              <a:avLst/>
            </a:prstGeom>
            <a:solidFill>
              <a:srgbClr val="FFFFFF"/>
            </a:solidFill>
            <a:ln w="14288">
              <a:solidFill>
                <a:srgbClr val="274C77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129108" y="22898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74C77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439406" y="2244090"/>
              <a:ext cx="36795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1414"/>
                  </a:solidFill>
                  <a:latin typeface="Arial"/>
                  <a:ea typeface="Microsoft YaHei"/>
                  <a:cs typeface="Arial"/>
                </a:rPr>
                <a:t>AI 只判每个检查项「过 / 不过」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7048500" y="2686050"/>
              <a:ext cx="266700" cy="266700"/>
            </a:xfrm>
            <a:prstGeom prst="ellipse">
              <a:avLst/>
            </a:prstGeom>
            <a:solidFill>
              <a:srgbClr val="FFFFFF"/>
            </a:solidFill>
            <a:ln w="14288">
              <a:solidFill>
                <a:srgbClr val="274C77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129108" y="27470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74C77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439406" y="27012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1414"/>
                  </a:solidFill>
                  <a:latin typeface="Arial"/>
                  <a:ea typeface="Microsoft YaHei"/>
                  <a:cs typeface="Arial"/>
                </a:rPr>
                <a:t>人可以复核每一条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7048500" y="3143250"/>
              <a:ext cx="266700" cy="266700"/>
            </a:xfrm>
            <a:prstGeom prst="ellipse">
              <a:avLst/>
            </a:prstGeom>
            <a:solidFill>
              <a:srgbClr val="FFFFFF"/>
            </a:solidFill>
            <a:ln w="14288">
              <a:solidFill>
                <a:srgbClr val="274C77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129108" y="32042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74C77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439406" y="315849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1414"/>
                  </a:solidFill>
                  <a:latin typeface="Arial"/>
                  <a:ea typeface="Microsoft YaHei"/>
                  <a:cs typeface="Arial"/>
                </a:rPr>
                <a:t>总分由程序按权重算出来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7048500" y="3600450"/>
              <a:ext cx="266700" cy="266700"/>
            </a:xfrm>
            <a:prstGeom prst="ellipse">
              <a:avLst/>
            </a:prstGeom>
            <a:solidFill>
              <a:srgbClr val="FFFFFF"/>
            </a:solidFill>
            <a:ln w="14288">
              <a:solidFill>
                <a:srgbClr val="274C77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129108" y="36614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74C77"/>
                  </a:solidFill>
                  <a:latin typeface="Arial"/>
                  <a:ea typeface="Arial"/>
                  <a:cs typeface="Arial"/>
                </a:rPr>
                <a:t>4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439406" y="3615690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1414"/>
                  </a:solidFill>
                  <a:latin typeface="Arial"/>
                  <a:ea typeface="Microsoft YaHei"/>
                  <a:cs typeface="Arial"/>
                </a:rPr>
                <a:t>每次检查，记录标准版本号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7048500" y="4057650"/>
              <a:ext cx="266700" cy="266700"/>
            </a:xfrm>
            <a:prstGeom prst="ellipse">
              <a:avLst/>
            </a:prstGeom>
            <a:solidFill>
              <a:srgbClr val="FFFFFF"/>
            </a:solidFill>
            <a:ln w="14288">
              <a:solidFill>
                <a:srgbClr val="274C77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129108" y="41186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74C77"/>
                  </a:solidFill>
                  <a:latin typeface="Arial"/>
                  <a:ea typeface="Arial"/>
                  <a:cs typeface="Arial"/>
                </a:rPr>
                <a:t>5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439406" y="4072890"/>
              <a:ext cx="32653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1414"/>
                  </a:solidFill>
                  <a:latin typeface="Arial"/>
                  <a:ea typeface="Microsoft YaHei"/>
                  <a:cs typeface="Arial"/>
                </a:rPr>
                <a:t>标准改版，</a:t>
              </a:r>
              <a:r>
                <a:rPr lang="zh-CN" sz="1800" b="1" dirty="0">
                  <a:solidFill>
                    <a:srgbClr val="141414"/>
                  </a:solidFill>
                  <a:latin typeface="Arial"/>
                  <a:ea typeface="Microsoft YaHei"/>
                  <a:cs typeface="Arial"/>
                </a:rPr>
                <a:t>不回头改历史分数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7041642" y="4667250"/>
            <a:ext cx="4540758" cy="1139761"/>
            <a:chOff x="7041642" y="4667250"/>
            <a:chExt cx="4540758" cy="1139761"/>
          </a:xfrm>
        </p:grpSpPr>
        <p:sp>
          <p:nvSpPr>
            <p:cNvPr id="60" name="Line 60"/>
            <p:cNvSpPr/>
            <p:nvPr/>
          </p:nvSpPr>
          <p:spPr>
            <a:xfrm>
              <a:off x="7048500" y="4667250"/>
              <a:ext cx="4533900" cy="9525"/>
            </a:xfrm>
            <a:custGeom>
              <a:avLst/>
              <a:gdLst/>
              <a:ahLst/>
              <a:cxnLst/>
              <a:rect l="l" t="t" r="r" b="b"/>
              <a:pathLst>
                <a:path w="4533900" h="9525">
                  <a:moveTo>
                    <a:pt x="0" y="0"/>
                  </a:moveTo>
                  <a:lnTo>
                    <a:pt x="4533900" y="0"/>
                  </a:lnTo>
                </a:path>
              </a:pathLst>
            </a:custGeom>
            <a:noFill/>
            <a:ln w="9525">
              <a:solidFill>
                <a:srgbClr val="ECE9E1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041642" y="4883468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7534A"/>
                  </a:solidFill>
                  <a:latin typeface="Arial"/>
                  <a:ea typeface="Microsoft YaHei"/>
                  <a:cs typeface="Arial"/>
                </a:rPr>
                <a:t>严重程度五档（「信息」只建议、不扣分）：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7048500" y="5219700"/>
              <a:ext cx="533400" cy="285750"/>
            </a:xfrm>
            <a:prstGeom prst="rect">
              <a:avLst/>
            </a:prstGeom>
            <a:solidFill>
              <a:srgbClr val="D5451B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210532" y="529018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S0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168515" y="56016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7534A"/>
                  </a:solidFill>
                  <a:latin typeface="Arial"/>
                  <a:ea typeface="Microsoft YaHei"/>
                  <a:cs typeface="Arial"/>
                </a:rPr>
                <a:t>阻断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7734300" y="5219700"/>
              <a:ext cx="533400" cy="285750"/>
            </a:xfrm>
            <a:prstGeom prst="rect">
              <a:avLst/>
            </a:prstGeom>
            <a:solidFill>
              <a:srgbClr val="B7520E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896332" y="529018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S1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854315" y="56016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7534A"/>
                  </a:solidFill>
                  <a:latin typeface="Arial"/>
                  <a:ea typeface="Microsoft YaHei"/>
                  <a:cs typeface="Arial"/>
                </a:rPr>
                <a:t>严重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8420100" y="5219700"/>
              <a:ext cx="533400" cy="285750"/>
            </a:xfrm>
            <a:prstGeom prst="rect">
              <a:avLst/>
            </a:prstGeom>
            <a:solidFill>
              <a:srgbClr val="8B857A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8582132" y="529018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S2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540115" y="56016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7534A"/>
                  </a:solidFill>
                  <a:latin typeface="Arial"/>
                  <a:ea typeface="Microsoft YaHei"/>
                  <a:cs typeface="Arial"/>
                </a:rPr>
                <a:t>较大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9105900" y="5219700"/>
              <a:ext cx="533400" cy="285750"/>
            </a:xfrm>
            <a:prstGeom prst="rect">
              <a:avLst/>
            </a:prstGeom>
            <a:solidFill>
              <a:srgbClr val="D9D4C9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9267932" y="529018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41414"/>
                  </a:solidFill>
                  <a:latin typeface="Arial"/>
                  <a:ea typeface="Arial"/>
                  <a:cs typeface="Arial"/>
                </a:rPr>
                <a:t>S3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9225915" y="56016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7534A"/>
                  </a:solidFill>
                  <a:latin typeface="Arial"/>
                  <a:ea typeface="Microsoft YaHei"/>
                  <a:cs typeface="Arial"/>
                </a:rPr>
                <a:t>轻微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602742" y="5759768"/>
            <a:ext cx="7846581" cy="264033"/>
            <a:chOff x="602742" y="5759768"/>
            <a:chExt cx="7846581" cy="264033"/>
          </a:xfrm>
        </p:grpSpPr>
        <p:sp>
          <p:nvSpPr>
            <p:cNvPr id="75" name="TextBox 75"/>
            <p:cNvSpPr txBox="1"/>
            <p:nvPr/>
          </p:nvSpPr>
          <p:spPr>
            <a:xfrm>
              <a:off x="602742" y="5759768"/>
              <a:ext cx="78465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B857A"/>
                  </a:solidFill>
                  <a:latin typeface="Arial"/>
                  <a:ea typeface="Microsoft YaHei"/>
                  <a:cs typeface="Arial"/>
                </a:rPr>
                <a:t>注：权重是初版假设、未经验证；改了就发新版本，历史分数不重算——不然前后对比就没意义了。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604266" y="6497002"/>
            <a:ext cx="10983468" cy="205359"/>
            <a:chOff x="604266" y="6497002"/>
            <a:chExt cx="10983468" cy="205359"/>
          </a:xfrm>
        </p:grpSpPr>
        <p:sp>
          <p:nvSpPr>
            <p:cNvPr id="77" name="TextBox 77"/>
            <p:cNvSpPr txBox="1"/>
            <p:nvPr/>
          </p:nvSpPr>
          <p:spPr>
            <a:xfrm>
              <a:off x="604266" y="6497002"/>
              <a:ext cx="16586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857A"/>
                  </a:solidFill>
                  <a:latin typeface="Arial"/>
                  <a:ea typeface="Microsoft YaHei"/>
                  <a:cs typeface="Arial"/>
                </a:rPr>
                <a:t>Arrival Ready · 迎客验收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103540" y="64970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8B857A"/>
                  </a:solidFill>
                  <a:latin typeface="Arial"/>
                  <a:ea typeface="Arial"/>
                  <a:cs typeface="Arial"/>
                </a:rPr>
                <a:t>05 / 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4" name="Group 4"/>
          <p:cNvGrpSpPr/>
          <p:nvPr/>
        </p:nvGrpSpPr>
        <p:grpSpPr>
          <a:xfrm>
            <a:off x="3544" y="704850"/>
            <a:ext cx="12184912" cy="5457825"/>
            <a:chOff x="3544" y="704850"/>
            <a:chExt cx="12184912" cy="5457825"/>
          </a:xfrm>
        </p:grpSpPr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544" y="704850"/>
              <a:ext cx="12184912" cy="5457825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0" y="0"/>
            <a:ext cx="12192000" cy="1152525"/>
            <a:chOff x="0" y="0"/>
            <a:chExt cx="12192000" cy="1152525"/>
          </a:xfrm>
        </p:grpSpPr>
        <p:sp>
          <p:nvSpPr>
            <p:cNvPr id="5" name="Rectangle 5"/>
            <p:cNvSpPr/>
            <p:nvPr/>
          </p:nvSpPr>
          <p:spPr>
            <a:xfrm>
              <a:off x="0" y="0"/>
              <a:ext cx="12192000" cy="1143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" name="Line 6"/>
            <p:cNvSpPr/>
            <p:nvPr/>
          </p:nvSpPr>
          <p:spPr>
            <a:xfrm>
              <a:off x="0" y="1143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D9D4C9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495300"/>
              <a:ext cx="38100" cy="304800"/>
            </a:xfrm>
            <a:prstGeom prst="rect">
              <a:avLst/>
            </a:prstGeom>
            <a:solidFill>
              <a:srgbClr val="D5451B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46760" y="419100"/>
              <a:ext cx="469506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11111"/>
                  </a:solidFill>
                  <a:latin typeface="Arial"/>
                  <a:ea typeface="Microsoft YaHei"/>
                  <a:cs typeface="Arial"/>
                </a:rPr>
                <a:t>看不出来，就写看不出来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096348" y="458152"/>
              <a:ext cx="14913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spc="150" dirty="0">
                  <a:solidFill>
                    <a:srgbClr val="8B857A"/>
                  </a:solidFill>
                  <a:latin typeface="Arial"/>
                  <a:ea typeface="Microsoft YaHei"/>
                  <a:cs typeface="Arial"/>
                </a:rPr>
                <a:t>PART 2 · 怎么工作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730911" y="806768"/>
              <a:ext cx="18583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57534A"/>
                  </a:solidFill>
                  <a:latin typeface="Arial"/>
                  <a:ea typeface="Microsoft YaHei"/>
                  <a:cs typeface="Arial"/>
                </a:rPr>
                <a:t>证据查看器 · 真实界面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09600" y="1428750"/>
            <a:ext cx="5295900" cy="1409700"/>
            <a:chOff x="609600" y="1428750"/>
            <a:chExt cx="5295900" cy="1409700"/>
          </a:xfrm>
        </p:grpSpPr>
        <p:sp>
          <p:nvSpPr>
            <p:cNvPr id="12" name="Rectangle 12"/>
            <p:cNvSpPr/>
            <p:nvPr/>
          </p:nvSpPr>
          <p:spPr>
            <a:xfrm>
              <a:off x="609600" y="1428750"/>
              <a:ext cx="2857500" cy="99060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D9D4C9"/>
              </a:solidFill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828675" y="1628775"/>
              <a:ext cx="171450" cy="171450"/>
              <a:chOff x="828675" y="1628775"/>
              <a:chExt cx="171450" cy="17145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828675" y="1628775"/>
                <a:ext cx="1333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33350">
                    <a:moveTo>
                      <a:pt x="0" y="66675"/>
                    </a:moveTo>
                    <a:cubicBezTo>
                      <a:pt x="0" y="103499"/>
                      <a:pt x="29851" y="133350"/>
                      <a:pt x="66675" y="133350"/>
                    </a:cubicBezTo>
                    <a:cubicBezTo>
                      <a:pt x="103499" y="133350"/>
                      <a:pt x="133350" y="103499"/>
                      <a:pt x="133350" y="66675"/>
                    </a:cubicBezTo>
                    <a:cubicBezTo>
                      <a:pt x="133350" y="29851"/>
                      <a:pt x="103499" y="0"/>
                      <a:pt x="66675" y="0"/>
                    </a:cubicBezTo>
                    <a:cubicBezTo>
                      <a:pt x="29851" y="0"/>
                      <a:pt x="0" y="29851"/>
                      <a:pt x="0" y="66675"/>
                    </a:cubicBezTo>
                  </a:path>
                </a:pathLst>
              </a:custGeom>
              <a:noFill/>
              <a:ln w="19050">
                <a:solidFill>
                  <a:srgbClr val="D5451B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66775" y="1695450"/>
                <a:ext cx="5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">
                    <a:moveTo>
                      <a:pt x="0" y="0"/>
                    </a:move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D5451B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95350" y="1666875"/>
                <a:ext cx="95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">
                    <a:moveTo>
                      <a:pt x="0" y="0"/>
                    </a:moveTo>
                    <a:lnTo>
                      <a:pt x="0" y="57150"/>
                    </a:lnTo>
                  </a:path>
                </a:pathLst>
              </a:custGeom>
              <a:noFill/>
              <a:ln w="19050">
                <a:solidFill>
                  <a:srgbClr val="D5451B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942975" y="1743075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57150" y="5715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D5451B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133856" y="1586865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11111"/>
                  </a:solidFill>
                  <a:latin typeface="Arial"/>
                  <a:ea typeface="Microsoft YaHei"/>
                  <a:cs typeface="Arial"/>
                </a:rPr>
                <a:t>框到哪儿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93242" y="1968818"/>
              <a:ext cx="189966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rgbClr val="57534A"/>
                  </a:solidFill>
                  <a:latin typeface="Arial"/>
                  <a:ea typeface="Microsoft YaHei"/>
                  <a:cs typeface="Arial"/>
                </a:rPr>
                <a:t>点开结论，能看到它看的</a:t>
              </a:r>
              <a:r>
                <a:rPr lang="zh-CN" sz="1350" dirty="0">
                  <a:solidFill>
                    <a:srgbClr val="57534A"/>
                  </a:solidFill>
                  <a:latin typeface="Arial"/>
                  <a:ea typeface="Microsoft YaHei"/>
                  <a:cs typeface="Arial"/>
                </a:rPr>
                <a:t>哪张照片、框在哪儿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3467100" y="1885950"/>
              <a:ext cx="2343150" cy="895350"/>
            </a:xfrm>
            <a:custGeom>
              <a:avLst/>
              <a:gdLst/>
              <a:ahLst/>
              <a:cxnLst/>
              <a:rect l="l" t="t" r="r" b="b"/>
              <a:pathLst>
                <a:path w="2343150" h="895350">
                  <a:moveTo>
                    <a:pt x="0" y="0"/>
                  </a:moveTo>
                  <a:cubicBezTo>
                    <a:pt x="914400" y="0"/>
                    <a:pt x="1676400" y="781050"/>
                    <a:pt x="2343150" y="895350"/>
                  </a:cubicBezTo>
                </a:path>
              </a:pathLst>
            </a:custGeom>
            <a:noFill/>
            <a:ln w="14288">
              <a:solidFill>
                <a:srgbClr val="D5451B"/>
              </a:solidFill>
              <a:tailEnd type="triangle" w="lg" len="lg"/>
            </a:ln>
          </p:spPr>
        </p:sp>
        <p:sp>
          <p:nvSpPr>
            <p:cNvPr id="21" name="Ellipse 21"/>
            <p:cNvSpPr/>
            <p:nvPr/>
          </p:nvSpPr>
          <p:spPr>
            <a:xfrm>
              <a:off x="5829300" y="2762250"/>
              <a:ext cx="76200" cy="76200"/>
            </a:xfrm>
            <a:prstGeom prst="ellipse">
              <a:avLst/>
            </a:prstGeom>
            <a:solidFill>
              <a:srgbClr val="D5451B"/>
            </a:solidFill>
            <a:ln>
              <a:noFill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609600" y="2533650"/>
            <a:ext cx="6057900" cy="1390650"/>
            <a:chOff x="609600" y="2533650"/>
            <a:chExt cx="6057900" cy="1390650"/>
          </a:xfrm>
        </p:grpSpPr>
        <p:sp>
          <p:nvSpPr>
            <p:cNvPr id="23" name="Rectangle 23"/>
            <p:cNvSpPr/>
            <p:nvPr/>
          </p:nvSpPr>
          <p:spPr>
            <a:xfrm>
              <a:off x="609600" y="2533650"/>
              <a:ext cx="2857500" cy="99060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D9D4C9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828675" y="2762250"/>
              <a:ext cx="171450" cy="114300"/>
              <a:chOff x="828675" y="2762250"/>
              <a:chExt cx="171450" cy="1143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895350" y="2800350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19050"/>
                    </a:moveTo>
                    <a:cubicBezTo>
                      <a:pt x="0" y="29571"/>
                      <a:pt x="8529" y="38100"/>
                      <a:pt x="19050" y="38100"/>
                    </a:cubicBez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rgbClr val="D5451B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28675" y="2762250"/>
                <a:ext cx="17145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14300">
                    <a:moveTo>
                      <a:pt x="171450" y="57150"/>
                    </a:moveTo>
                    <a:cubicBezTo>
                      <a:pt x="148590" y="95250"/>
                      <a:pt x="120015" y="114300"/>
                      <a:pt x="85725" y="114300"/>
                    </a:cubicBezTo>
                    <a:cubicBezTo>
                      <a:pt x="51435" y="114300"/>
                      <a:pt x="22860" y="95250"/>
                      <a:pt x="0" y="57150"/>
                    </a:cubicBezTo>
                    <a:cubicBezTo>
                      <a:pt x="22860" y="19050"/>
                      <a:pt x="51435" y="0"/>
                      <a:pt x="85725" y="0"/>
                    </a:cubicBezTo>
                    <a:cubicBezTo>
                      <a:pt x="120015" y="0"/>
                      <a:pt x="148590" y="19050"/>
                      <a:pt x="171450" y="57150"/>
                    </a:cubicBezTo>
                  </a:path>
                </a:pathLst>
              </a:custGeom>
              <a:noFill/>
              <a:ln w="19050">
                <a:solidFill>
                  <a:srgbClr val="D5451B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1133856" y="2691765"/>
              <a:ext cx="146854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11111"/>
                  </a:solidFill>
                  <a:latin typeface="Arial"/>
                  <a:ea typeface="Microsoft YaHei"/>
                  <a:cs typeface="Arial"/>
                </a:rPr>
                <a:t>观察 vs 推断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93242" y="3073718"/>
              <a:ext cx="189966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rgbClr val="57534A"/>
                  </a:solidFill>
                  <a:latin typeface="Arial"/>
                  <a:ea typeface="Microsoft YaHei"/>
                  <a:cs typeface="Arial"/>
                </a:rPr>
                <a:t>亲眼看到的和猜出来的，</a:t>
              </a:r>
              <a:r>
                <a:rPr lang="zh-CN" sz="1350" dirty="0">
                  <a:solidFill>
                    <a:srgbClr val="57534A"/>
                  </a:solidFill>
                  <a:latin typeface="Arial"/>
                  <a:ea typeface="Microsoft YaHei"/>
                  <a:cs typeface="Arial"/>
                </a:rPr>
                <a:t>分开写、不混在一起</a:t>
              </a:r>
            </a:p>
          </p:txBody>
        </p:sp>
        <p:sp>
          <p:nvSpPr>
            <p:cNvPr id="29" name="Freeform 29"/>
            <p:cNvSpPr/>
            <p:nvPr/>
          </p:nvSpPr>
          <p:spPr>
            <a:xfrm>
              <a:off x="3467100" y="2990850"/>
              <a:ext cx="3105150" cy="895350"/>
            </a:xfrm>
            <a:custGeom>
              <a:avLst/>
              <a:gdLst/>
              <a:ahLst/>
              <a:cxnLst/>
              <a:rect l="l" t="t" r="r" b="b"/>
              <a:pathLst>
                <a:path w="3105150" h="895350">
                  <a:moveTo>
                    <a:pt x="0" y="0"/>
                  </a:moveTo>
                  <a:cubicBezTo>
                    <a:pt x="1009650" y="0"/>
                    <a:pt x="2057400" y="819150"/>
                    <a:pt x="3105150" y="895350"/>
                  </a:cubicBezTo>
                </a:path>
              </a:pathLst>
            </a:custGeom>
            <a:noFill/>
            <a:ln w="14288">
              <a:solidFill>
                <a:srgbClr val="D5451B"/>
              </a:solidFill>
              <a:tailEnd type="triangle" w="lg" len="lg"/>
            </a:ln>
          </p:spPr>
        </p:sp>
        <p:sp>
          <p:nvSpPr>
            <p:cNvPr id="30" name="Ellipse 30"/>
            <p:cNvSpPr/>
            <p:nvPr/>
          </p:nvSpPr>
          <p:spPr>
            <a:xfrm>
              <a:off x="6591300" y="3848100"/>
              <a:ext cx="76200" cy="76200"/>
            </a:xfrm>
            <a:prstGeom prst="ellipse">
              <a:avLst/>
            </a:prstGeom>
            <a:solidFill>
              <a:srgbClr val="D5451B"/>
            </a:solidFill>
            <a:ln>
              <a:noFill/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609600" y="2762250"/>
            <a:ext cx="7391400" cy="1928051"/>
            <a:chOff x="609600" y="2762250"/>
            <a:chExt cx="7391400" cy="1928051"/>
          </a:xfrm>
        </p:grpSpPr>
        <p:sp>
          <p:nvSpPr>
            <p:cNvPr id="32" name="Rectangle 32"/>
            <p:cNvSpPr/>
            <p:nvPr/>
          </p:nvSpPr>
          <p:spPr>
            <a:xfrm>
              <a:off x="609600" y="3638550"/>
              <a:ext cx="2857500" cy="99060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D9D4C9"/>
              </a:solidFill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828675" y="3838575"/>
              <a:ext cx="171450" cy="171450"/>
              <a:chOff x="828675" y="3838575"/>
              <a:chExt cx="171450" cy="17145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828675" y="3838575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0" y="85725"/>
                    </a:moveTo>
                    <a:cubicBezTo>
                      <a:pt x="0" y="133070"/>
                      <a:pt x="38380" y="171450"/>
                      <a:pt x="85725" y="171450"/>
                    </a:cubicBezTo>
                    <a:cubicBezTo>
                      <a:pt x="133070" y="171450"/>
                      <a:pt x="171450" y="133070"/>
                      <a:pt x="171450" y="85725"/>
                    </a:cubicBezTo>
                    <a:cubicBezTo>
                      <a:pt x="171450" y="38380"/>
                      <a:pt x="133070" y="0"/>
                      <a:pt x="85725" y="0"/>
                    </a:cubicBezTo>
                    <a:cubicBezTo>
                      <a:pt x="38380" y="0"/>
                      <a:pt x="0" y="38380"/>
                      <a:pt x="0" y="85725"/>
                    </a:cubicBezTo>
                  </a:path>
                </a:pathLst>
              </a:custGeom>
              <a:noFill/>
              <a:ln w="19050">
                <a:solidFill>
                  <a:srgbClr val="D5451B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914400" y="39624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95"/>
                    </a:lnTo>
                  </a:path>
                </a:pathLst>
              </a:custGeom>
              <a:noFill/>
              <a:ln w="19050">
                <a:solidFill>
                  <a:srgbClr val="D5451B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900112" y="3893805"/>
                <a:ext cx="34933" cy="40047"/>
              </a:xfrm>
              <a:custGeom>
                <a:avLst/>
                <a:gdLst/>
                <a:ahLst/>
                <a:cxnLst/>
                <a:rect l="l" t="t" r="r" b="b"/>
                <a:pathLst>
                  <a:path w="34933" h="40047">
                    <a:moveTo>
                      <a:pt x="14288" y="40020"/>
                    </a:moveTo>
                    <a:cubicBezTo>
                      <a:pt x="23106" y="40047"/>
                      <a:pt x="30790" y="34017"/>
                      <a:pt x="32862" y="25445"/>
                    </a:cubicBezTo>
                    <a:cubicBezTo>
                      <a:pt x="34933" y="16874"/>
                      <a:pt x="30851" y="8000"/>
                      <a:pt x="22993" y="3997"/>
                    </a:cubicBezTo>
                    <a:cubicBezTo>
                      <a:pt x="15191" y="0"/>
                      <a:pt x="5664" y="1906"/>
                      <a:pt x="0" y="8597"/>
                    </a:cubicBezTo>
                  </a:path>
                </a:pathLst>
              </a:custGeom>
              <a:noFill/>
              <a:ln w="19050">
                <a:solidFill>
                  <a:srgbClr val="D5451B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133856" y="3796665"/>
              <a:ext cx="17791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11111"/>
                  </a:solidFill>
                  <a:latin typeface="Arial"/>
                  <a:ea typeface="Microsoft YaHei"/>
                  <a:cs typeface="Arial"/>
                </a:rPr>
                <a:t>诚实 UNKNOWN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93242" y="4178618"/>
              <a:ext cx="207111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rgbClr val="57534A"/>
                  </a:solidFill>
                  <a:latin typeface="Arial"/>
                  <a:ea typeface="Microsoft YaHei"/>
                  <a:cs typeface="Arial"/>
                </a:rPr>
                <a:t>十条规则实测：没证据的项</a:t>
              </a:r>
              <a:r>
                <a:rPr lang="zh-CN" sz="1350" dirty="0">
                  <a:solidFill>
                    <a:srgbClr val="57534A"/>
                  </a:solidFill>
                  <a:latin typeface="Arial"/>
                  <a:ea typeface="Microsoft YaHei"/>
                  <a:cs typeface="Arial"/>
                </a:rPr>
                <a:t>全部 UNKNOWN，</a:t>
              </a:r>
              <a:r>
                <a:rPr lang="zh-CN" sz="1350" b="1" dirty="0">
                  <a:solidFill>
                    <a:srgbClr val="D5451B"/>
                  </a:solidFill>
                  <a:latin typeface="Arial"/>
                  <a:ea typeface="Microsoft YaHei"/>
                  <a:cs typeface="Arial"/>
                </a:rPr>
                <a:t>零编造</a:t>
              </a:r>
            </a:p>
          </p:txBody>
        </p:sp>
        <p:sp>
          <p:nvSpPr>
            <p:cNvPr id="39" name="Freeform 39"/>
            <p:cNvSpPr/>
            <p:nvPr/>
          </p:nvSpPr>
          <p:spPr>
            <a:xfrm>
              <a:off x="3467100" y="2819400"/>
              <a:ext cx="4438650" cy="1276350"/>
            </a:xfrm>
            <a:custGeom>
              <a:avLst/>
              <a:gdLst/>
              <a:ahLst/>
              <a:cxnLst/>
              <a:rect l="l" t="t" r="r" b="b"/>
              <a:pathLst>
                <a:path w="4438650" h="1276350">
                  <a:moveTo>
                    <a:pt x="0" y="1276350"/>
                  </a:moveTo>
                  <a:cubicBezTo>
                    <a:pt x="1295400" y="1276350"/>
                    <a:pt x="2438400" y="228600"/>
                    <a:pt x="4438650" y="0"/>
                  </a:cubicBezTo>
                </a:path>
              </a:pathLst>
            </a:custGeom>
            <a:noFill/>
            <a:ln w="14288">
              <a:solidFill>
                <a:srgbClr val="D5451B"/>
              </a:solidFill>
              <a:tailEnd type="triangle" w="lg" len="lg"/>
            </a:ln>
          </p:spPr>
        </p:sp>
        <p:sp>
          <p:nvSpPr>
            <p:cNvPr id="40" name="Ellipse 40"/>
            <p:cNvSpPr/>
            <p:nvPr/>
          </p:nvSpPr>
          <p:spPr>
            <a:xfrm>
              <a:off x="7924800" y="2762250"/>
              <a:ext cx="76200" cy="76200"/>
            </a:xfrm>
            <a:prstGeom prst="ellipse">
              <a:avLst/>
            </a:prstGeom>
            <a:solidFill>
              <a:srgbClr val="D5451B"/>
            </a:solidFill>
            <a:ln>
              <a:noFill/>
            </a:ln>
          </p:spPr>
        </p:sp>
      </p:grpSp>
      <p:grpSp>
        <p:nvGrpSpPr>
          <p:cNvPr id="47" name="Group 47"/>
          <p:cNvGrpSpPr/>
          <p:nvPr/>
        </p:nvGrpSpPr>
        <p:grpSpPr>
          <a:xfrm>
            <a:off x="0" y="5715000"/>
            <a:ext cx="12192000" cy="1143000"/>
            <a:chOff x="0" y="5715000"/>
            <a:chExt cx="12192000" cy="1143000"/>
          </a:xfrm>
        </p:grpSpPr>
        <p:sp>
          <p:nvSpPr>
            <p:cNvPr id="42" name="Rectangle 42"/>
            <p:cNvSpPr/>
            <p:nvPr/>
          </p:nvSpPr>
          <p:spPr>
            <a:xfrm>
              <a:off x="0" y="5715000"/>
              <a:ext cx="12192000" cy="1143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3" name="Line 43"/>
            <p:cNvSpPr/>
            <p:nvPr/>
          </p:nvSpPr>
          <p:spPr>
            <a:xfrm>
              <a:off x="0" y="5715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D9D4C9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98932" y="5926455"/>
              <a:ext cx="77659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141414"/>
                  </a:solidFill>
                  <a:latin typeface="Arial"/>
                  <a:ea typeface="Microsoft YaHei"/>
                  <a:cs typeface="Arial"/>
                </a:rPr>
                <a:t>每条结论都指着证据说话；没把握的，</a:t>
              </a:r>
              <a:r>
                <a:rPr lang="zh-CN" sz="2100" b="1" dirty="0">
                  <a:solidFill>
                    <a:srgbClr val="D5451B"/>
                  </a:solidFill>
                  <a:latin typeface="Arial"/>
                  <a:ea typeface="Microsoft YaHei"/>
                  <a:cs typeface="Arial"/>
                </a:rPr>
                <a:t>诚实标 UNKNOWN</a:t>
              </a:r>
              <a:r>
                <a:rPr lang="zh-CN" sz="2100" dirty="0">
                  <a:solidFill>
                    <a:srgbClr val="141414"/>
                  </a:solidFill>
                  <a:latin typeface="Arial"/>
                  <a:ea typeface="Microsoft YaHei"/>
                  <a:cs typeface="Arial"/>
                </a:rPr>
                <a:t>。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04266" y="6401752"/>
              <a:ext cx="49302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857A"/>
                  </a:solidFill>
                  <a:latin typeface="Arial"/>
                  <a:ea typeface="Microsoft YaHei"/>
                  <a:cs typeface="Arial"/>
                </a:rPr>
                <a:t>2026-09-07 真实模型实录 · StepFun 视觉模型逐条调用 · 截图取自演示视频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103540" y="64017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8B857A"/>
                  </a:solidFill>
                  <a:latin typeface="Arial"/>
                  <a:ea typeface="Arial"/>
                  <a:cs typeface="Arial"/>
                </a:rPr>
                <a:t>06 / 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98932" y="419100"/>
            <a:ext cx="10988802" cy="1441323"/>
            <a:chOff x="598932" y="419100"/>
            <a:chExt cx="10988802" cy="1441323"/>
          </a:xfrm>
        </p:grpSpPr>
        <p:sp>
          <p:nvSpPr>
            <p:cNvPr id="3" name="Rectangle 3"/>
            <p:cNvSpPr/>
            <p:nvPr/>
          </p:nvSpPr>
          <p:spPr>
            <a:xfrm>
              <a:off x="609600" y="495300"/>
              <a:ext cx="38100" cy="304800"/>
            </a:xfrm>
            <a:prstGeom prst="rect">
              <a:avLst/>
            </a:prstGeom>
            <a:solidFill>
              <a:srgbClr val="D5451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6760" y="419100"/>
              <a:ext cx="36821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11111"/>
                  </a:solidFill>
                  <a:latin typeface="Arial"/>
                  <a:ea typeface="Microsoft YaHei"/>
                  <a:cs typeface="Arial"/>
                </a:rPr>
                <a:t>AI 提建议，人拍板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096348" y="458152"/>
              <a:ext cx="14913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spc="150" dirty="0">
                  <a:solidFill>
                    <a:srgbClr val="8B857A"/>
                  </a:solidFill>
                  <a:latin typeface="Arial"/>
                  <a:ea typeface="Microsoft YaHei"/>
                  <a:cs typeface="Arial"/>
                </a:rPr>
                <a:t>PART 2 · 怎么工作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8932" y="1068705"/>
              <a:ext cx="8369046" cy="79171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000"/>
                </a:lnSpc>
              </a:pPr>
              <a:r>
                <a:rPr lang="zh-CN" sz="2100" dirty="0">
                  <a:solidFill>
                    <a:srgbClr val="141414"/>
                  </a:solidFill>
                  <a:latin typeface="Arial"/>
                  <a:ea typeface="Microsoft YaHei"/>
                  <a:cs typeface="Arial"/>
                </a:rPr>
                <a:t>老板对每条结论</a:t>
              </a:r>
              <a:r>
                <a:rPr lang="zh-CN" sz="2100" b="1" dirty="0">
                  <a:solidFill>
                    <a:srgbClr val="141414"/>
                  </a:solidFill>
                  <a:latin typeface="Arial"/>
                  <a:ea typeface="Microsoft YaHei"/>
                  <a:cs typeface="Arial"/>
                </a:rPr>
                <a:t>四选一</a:t>
              </a:r>
              <a:r>
                <a:rPr lang="zh-CN" sz="2100" dirty="0">
                  <a:solidFill>
                    <a:srgbClr val="141414"/>
                  </a:solidFill>
                  <a:latin typeface="Arial"/>
                  <a:ea typeface="Microsoft YaHei"/>
                  <a:cs typeface="Arial"/>
                </a:rPr>
                <a:t>，点过就存档、谁也改不了；</a:t>
              </a:r>
              <a:r>
                <a:rPr lang="zh-CN" sz="2100" dirty="0">
                  <a:solidFill>
                    <a:srgbClr val="141414"/>
                  </a:solidFill>
                  <a:latin typeface="Arial"/>
                  <a:ea typeface="Microsoft YaHei"/>
                  <a:cs typeface="Arial"/>
                </a:rPr>
                <a:t>问题变成任务，「已解决」必须</a:t>
              </a:r>
              <a:r>
                <a:rPr lang="zh-CN" sz="2100" b="1" dirty="0">
                  <a:solidFill>
                    <a:srgbClr val="141414"/>
                  </a:solidFill>
                  <a:latin typeface="Arial"/>
                  <a:ea typeface="Microsoft YaHei"/>
                  <a:cs typeface="Arial"/>
                </a:rPr>
                <a:t>复测通过</a:t>
              </a:r>
              <a:r>
                <a:rPr lang="zh-CN" sz="2100" dirty="0">
                  <a:solidFill>
                    <a:srgbClr val="141414"/>
                  </a:solidFill>
                  <a:latin typeface="Arial"/>
                  <a:ea typeface="Microsoft YaHei"/>
                  <a:cs typeface="Arial"/>
                </a:rPr>
                <a:t>——系统校验，不是自己勾的。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00456" y="2339340"/>
            <a:ext cx="5233683" cy="1950911"/>
            <a:chOff x="600456" y="2339340"/>
            <a:chExt cx="5233683" cy="1950911"/>
          </a:xfrm>
        </p:grpSpPr>
        <p:sp>
          <p:nvSpPr>
            <p:cNvPr id="8" name="TextBox 8"/>
            <p:cNvSpPr txBox="1"/>
            <p:nvPr/>
          </p:nvSpPr>
          <p:spPr>
            <a:xfrm>
              <a:off x="600456" y="233934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11111"/>
                  </a:solidFill>
                  <a:latin typeface="Arial"/>
                  <a:ea typeface="Microsoft YaHei"/>
                  <a:cs typeface="Arial"/>
                </a:rPr>
                <a:t>人审四操作</a:t>
              </a:r>
            </a:p>
          </p:txBody>
        </p:sp>
        <p:grpSp>
          <p:nvGrpSpPr>
            <p:cNvPr id="11" name="Group 11"/>
            <p:cNvGrpSpPr/>
            <p:nvPr/>
          </p:nvGrpSpPr>
          <p:grpSpPr>
            <a:xfrm>
              <a:off x="642938" y="2814638"/>
              <a:ext cx="200026" cy="200026"/>
              <a:chOff x="642938" y="2814638"/>
              <a:chExt cx="200026" cy="200026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642938" y="281463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19050">
                <a:solidFill>
                  <a:srgbClr val="1F7A4D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709613" y="289242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19050">
                <a:solidFill>
                  <a:srgbClr val="1F7A4D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981456" y="2787015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41414"/>
                  </a:solidFill>
                  <a:latin typeface="Arial"/>
                  <a:ea typeface="Microsoft YaHei"/>
                  <a:cs typeface="Arial"/>
                </a:rPr>
                <a:t>确认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02742" y="3149918"/>
              <a:ext cx="22123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7534A"/>
                  </a:solidFill>
                  <a:latin typeface="Arial"/>
                  <a:ea typeface="Microsoft YaHei"/>
                  <a:cs typeface="Arial"/>
                </a:rPr>
                <a:t>同意 AI 的判断，直接生效</a:t>
              </a:r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3843338" y="2814638"/>
              <a:ext cx="200025" cy="198438"/>
              <a:chOff x="3843338" y="2814638"/>
              <a:chExt cx="200025" cy="198438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3887788" y="3003551"/>
                <a:ext cx="111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9525">
                    <a:moveTo>
                      <a:pt x="0" y="0"/>
                    </a:moveTo>
                    <a:lnTo>
                      <a:pt x="111125" y="0"/>
                    </a:lnTo>
                  </a:path>
                </a:pathLst>
              </a:custGeom>
              <a:noFill/>
              <a:ln w="19050">
                <a:solidFill>
                  <a:srgbClr val="274C77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3876675" y="2836863"/>
                <a:ext cx="133350" cy="11113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1113">
                    <a:moveTo>
                      <a:pt x="0" y="11113"/>
                    </a:moveTo>
                    <a:lnTo>
                      <a:pt x="66675" y="0"/>
                    </a:lnTo>
                    <a:lnTo>
                      <a:pt x="133350" y="11113"/>
                    </a:lnTo>
                  </a:path>
                </a:pathLst>
              </a:custGeom>
              <a:noFill/>
              <a:ln w="19050">
                <a:solidFill>
                  <a:srgbClr val="274C77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3943350" y="2814638"/>
                <a:ext cx="9525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88913">
                    <a:moveTo>
                      <a:pt x="0" y="0"/>
                    </a:moveTo>
                    <a:lnTo>
                      <a:pt x="0" y="188913"/>
                    </a:lnTo>
                  </a:path>
                </a:pathLst>
              </a:custGeom>
              <a:noFill/>
              <a:ln w="19050">
                <a:solidFill>
                  <a:srgbClr val="274C77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3843338" y="2847975"/>
                <a:ext cx="66675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100013">
                    <a:moveTo>
                      <a:pt x="66675" y="66675"/>
                    </a:moveTo>
                    <a:lnTo>
                      <a:pt x="33338" y="0"/>
                    </a:lnTo>
                    <a:lnTo>
                      <a:pt x="0" y="66675"/>
                    </a:lnTo>
                    <a:cubicBezTo>
                      <a:pt x="0" y="85087"/>
                      <a:pt x="14926" y="100013"/>
                      <a:pt x="33338" y="100013"/>
                    </a:cubicBezTo>
                    <a:cubicBezTo>
                      <a:pt x="51749" y="100013"/>
                      <a:pt x="66675" y="85087"/>
                      <a:pt x="66675" y="66675"/>
                    </a:cubicBezTo>
                  </a:path>
                </a:pathLst>
              </a:custGeom>
              <a:noFill/>
              <a:ln w="19050">
                <a:solidFill>
                  <a:srgbClr val="274C77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3976688" y="2847975"/>
                <a:ext cx="66675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100013">
                    <a:moveTo>
                      <a:pt x="66675" y="66675"/>
                    </a:moveTo>
                    <a:lnTo>
                      <a:pt x="33338" y="0"/>
                    </a:lnTo>
                    <a:lnTo>
                      <a:pt x="0" y="66675"/>
                    </a:lnTo>
                    <a:cubicBezTo>
                      <a:pt x="0" y="85087"/>
                      <a:pt x="14926" y="100013"/>
                      <a:pt x="33338" y="100013"/>
                    </a:cubicBezTo>
                    <a:cubicBezTo>
                      <a:pt x="51749" y="100013"/>
                      <a:pt x="66675" y="85087"/>
                      <a:pt x="66675" y="66675"/>
                    </a:cubicBezTo>
                  </a:path>
                </a:pathLst>
              </a:custGeom>
              <a:noFill/>
              <a:ln w="19050">
                <a:solidFill>
                  <a:srgbClr val="274C77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4181856" y="2787015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41414"/>
                  </a:solidFill>
                  <a:latin typeface="Arial"/>
                  <a:ea typeface="Microsoft YaHei"/>
                  <a:cs typeface="Arial"/>
                </a:rPr>
                <a:t>改判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803142" y="31499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7534A"/>
                  </a:solidFill>
                  <a:latin typeface="Arial"/>
                  <a:ea typeface="Microsoft YaHei"/>
                  <a:cs typeface="Arial"/>
                </a:rPr>
                <a:t>换个结论，写明理由</a:t>
              </a:r>
            </a:p>
          </p:txBody>
        </p:sp>
        <p:grpSp>
          <p:nvGrpSpPr>
            <p:cNvPr id="24" name="Group 24"/>
            <p:cNvGrpSpPr/>
            <p:nvPr/>
          </p:nvGrpSpPr>
          <p:grpSpPr>
            <a:xfrm>
              <a:off x="642938" y="3690938"/>
              <a:ext cx="200026" cy="200026"/>
              <a:chOff x="642938" y="3690938"/>
              <a:chExt cx="200026" cy="200026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642938" y="369093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19050">
                <a:solidFill>
                  <a:srgbClr val="D5451B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720725" y="3768725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0"/>
                    </a:moveTo>
                    <a:lnTo>
                      <a:pt x="44450" y="44450"/>
                    </a:lnTo>
                    <a:moveTo>
                      <a:pt x="4445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19050">
                <a:solidFill>
                  <a:srgbClr val="D5451B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981456" y="3663315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41414"/>
                  </a:solidFill>
                  <a:latin typeface="Arial"/>
                  <a:ea typeface="Microsoft YaHei"/>
                  <a:cs typeface="Arial"/>
                </a:rPr>
                <a:t>退回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02742" y="40262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7534A"/>
                  </a:solidFill>
                  <a:latin typeface="Arial"/>
                  <a:ea typeface="Microsoft YaHei"/>
                  <a:cs typeface="Arial"/>
                </a:rPr>
                <a:t>证据不足，打回重查</a:t>
              </a:r>
            </a:p>
          </p:txBody>
        </p:sp>
        <p:grpSp>
          <p:nvGrpSpPr>
            <p:cNvPr id="30" name="Group 30"/>
            <p:cNvGrpSpPr/>
            <p:nvPr/>
          </p:nvGrpSpPr>
          <p:grpSpPr>
            <a:xfrm>
              <a:off x="3843338" y="3690938"/>
              <a:ext cx="200026" cy="200026"/>
              <a:chOff x="3843338" y="3690938"/>
              <a:chExt cx="200026" cy="200026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3843338" y="369093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19050">
                <a:solidFill>
                  <a:srgbClr val="8B857A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3943350" y="383540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1"/>
                    </a:lnTo>
                  </a:path>
                </a:pathLst>
              </a:custGeom>
              <a:noFill/>
              <a:ln w="19050">
                <a:solidFill>
                  <a:srgbClr val="8B857A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3926682" y="3755372"/>
                <a:ext cx="40756" cy="46721"/>
              </a:xfrm>
              <a:custGeom>
                <a:avLst/>
                <a:gdLst/>
                <a:ahLst/>
                <a:cxnLst/>
                <a:rect l="l" t="t" r="r" b="b"/>
                <a:pathLst>
                  <a:path w="40756" h="46721">
                    <a:moveTo>
                      <a:pt x="16669" y="46690"/>
                    </a:moveTo>
                    <a:cubicBezTo>
                      <a:pt x="26957" y="46721"/>
                      <a:pt x="35922" y="39687"/>
                      <a:pt x="38339" y="29686"/>
                    </a:cubicBezTo>
                    <a:cubicBezTo>
                      <a:pt x="40756" y="19686"/>
                      <a:pt x="35993" y="9334"/>
                      <a:pt x="26826" y="4663"/>
                    </a:cubicBezTo>
                    <a:cubicBezTo>
                      <a:pt x="17723" y="0"/>
                      <a:pt x="6608" y="2224"/>
                      <a:pt x="0" y="10030"/>
                    </a:cubicBezTo>
                  </a:path>
                </a:pathLst>
              </a:custGeom>
              <a:noFill/>
              <a:ln w="19050">
                <a:solidFill>
                  <a:srgbClr val="8B857A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4181856" y="3663315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41414"/>
                  </a:solidFill>
                  <a:latin typeface="Arial"/>
                  <a:ea typeface="Microsoft YaHei"/>
                  <a:cs typeface="Arial"/>
                </a:rPr>
                <a:t>不适用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803142" y="4026218"/>
              <a:ext cx="20309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7534A"/>
                  </a:solidFill>
                  <a:latin typeface="Arial"/>
                  <a:ea typeface="Microsoft YaHei"/>
                  <a:cs typeface="Arial"/>
                </a:rPr>
                <a:t>这条不管——也要注明原因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00456" y="4572000"/>
            <a:ext cx="6067044" cy="1223201"/>
            <a:chOff x="600456" y="4572000"/>
            <a:chExt cx="6067044" cy="1223201"/>
          </a:xfrm>
        </p:grpSpPr>
        <p:sp>
          <p:nvSpPr>
            <p:cNvPr id="34" name="Line 34"/>
            <p:cNvSpPr/>
            <p:nvPr/>
          </p:nvSpPr>
          <p:spPr>
            <a:xfrm>
              <a:off x="609600" y="4572000"/>
              <a:ext cx="6057900" cy="9525"/>
            </a:xfrm>
            <a:custGeom>
              <a:avLst/>
              <a:gdLst/>
              <a:ahLst/>
              <a:cxnLst/>
              <a:rect l="l" t="t" r="r" b="b"/>
              <a:pathLst>
                <a:path w="6057900" h="9525">
                  <a:moveTo>
                    <a:pt x="0" y="0"/>
                  </a:moveTo>
                  <a:lnTo>
                    <a:pt x="6057900" y="0"/>
                  </a:lnTo>
                </a:path>
              </a:pathLst>
            </a:custGeom>
            <a:noFill/>
            <a:ln w="9525">
              <a:solidFill>
                <a:srgbClr val="ECE9E1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00456" y="4739640"/>
              <a:ext cx="28170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11111"/>
                  </a:solidFill>
                  <a:latin typeface="Arial"/>
                  <a:ea typeface="Microsoft YaHei"/>
                  <a:cs typeface="Arial"/>
                </a:rPr>
                <a:t>每条问题，盯成一件任务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00456" y="5158740"/>
              <a:ext cx="456171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1414"/>
                  </a:solidFill>
                  <a:latin typeface="Arial"/>
                  <a:ea typeface="Microsoft YaHei"/>
                  <a:cs typeface="Arial"/>
                </a:rPr>
                <a:t xml:space="preserve">发现 → 已认领 → 整改中 → 待复测 → </a:t>
              </a:r>
              <a:r>
                <a:rPr lang="zh-CN" sz="1800" b="1" dirty="0">
                  <a:solidFill>
                    <a:srgbClr val="1F7A4D"/>
                  </a:solidFill>
                  <a:latin typeface="Arial"/>
                  <a:ea typeface="Microsoft YaHei"/>
                  <a:cs typeface="Arial"/>
                </a:rPr>
                <a:t>已解决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02742" y="5531168"/>
              <a:ext cx="53022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7534A"/>
                  </a:solidFill>
                  <a:latin typeface="Arial"/>
                  <a:ea typeface="Microsoft YaHei"/>
                  <a:cs typeface="Arial"/>
                </a:rPr>
                <a:t>还有第五种结局：「已知风险，不改了」——要写理由，留档备查。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7143750" y="2171700"/>
            <a:ext cx="4419600" cy="2905506"/>
            <a:chOff x="7143750" y="2171700"/>
            <a:chExt cx="4419600" cy="2905506"/>
          </a:xfrm>
        </p:grpSpPr>
        <p:sp>
          <p:nvSpPr>
            <p:cNvPr id="39" name="Rectangle 39"/>
            <p:cNvSpPr/>
            <p:nvPr/>
          </p:nvSpPr>
          <p:spPr>
            <a:xfrm>
              <a:off x="7143750" y="2171700"/>
              <a:ext cx="4419600" cy="2495550"/>
            </a:xfrm>
            <a:prstGeom prst="rect">
              <a:avLst/>
            </a:prstGeom>
            <a:noFill/>
            <a:ln w="19050">
              <a:solidFill>
                <a:srgbClr val="111111"/>
              </a:solidFill>
            </a:ln>
          </p:spPr>
        </p:sp>
        <p:pic>
          <p:nvPicPr>
            <p:cNvPr id="40" name="Image 4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169150" y="2190750"/>
              <a:ext cx="4368800" cy="2457450"/>
            </a:xfrm>
            <a:prstGeom prst="rect">
              <a:avLst/>
            </a:prstGeom>
          </p:spPr>
        </p:pic>
        <p:sp>
          <p:nvSpPr>
            <p:cNvPr id="41" name="TextBox 41"/>
            <p:cNvSpPr txBox="1"/>
            <p:nvPr/>
          </p:nvSpPr>
          <p:spPr>
            <a:xfrm>
              <a:off x="7489698" y="4842510"/>
              <a:ext cx="37277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8B857A"/>
                  </a:solidFill>
                  <a:latin typeface="Arial"/>
                  <a:ea typeface="Microsoft YaHei"/>
                  <a:cs typeface="Arial"/>
                </a:rPr>
                <a:t>人审列表（真实界面）：点一行就出操作，全程存档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09600" y="5943600"/>
            <a:ext cx="10972800" cy="472059"/>
            <a:chOff x="609600" y="5943600"/>
            <a:chExt cx="10972800" cy="472059"/>
          </a:xfrm>
        </p:grpSpPr>
        <p:sp>
          <p:nvSpPr>
            <p:cNvPr id="43" name="Line 43"/>
            <p:cNvSpPr/>
            <p:nvPr/>
          </p:nvSpPr>
          <p:spPr>
            <a:xfrm>
              <a:off x="609600" y="5943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ECE9E1"/>
              </a:solidFill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657225" y="6105525"/>
              <a:ext cx="133350" cy="171450"/>
              <a:chOff x="657225" y="6105525"/>
              <a:chExt cx="133350" cy="171450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657225" y="6181725"/>
                <a:ext cx="1333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95250">
                    <a:moveTo>
                      <a:pt x="0" y="19050"/>
                    </a:moveTo>
                    <a:cubicBezTo>
                      <a:pt x="0" y="8529"/>
                      <a:pt x="8529" y="0"/>
                      <a:pt x="19050" y="0"/>
                    </a:cubicBezTo>
                    <a:lnTo>
                      <a:pt x="114300" y="0"/>
                    </a:lnTo>
                    <a:cubicBezTo>
                      <a:pt x="124821" y="0"/>
                      <a:pt x="133350" y="8529"/>
                      <a:pt x="133350" y="19050"/>
                    </a:cubicBezTo>
                    <a:lnTo>
                      <a:pt x="133350" y="76200"/>
                    </a:lnTo>
                    <a:cubicBezTo>
                      <a:pt x="133350" y="86721"/>
                      <a:pt x="124821" y="95250"/>
                      <a:pt x="114300" y="95250"/>
                    </a:cubicBezTo>
                    <a:lnTo>
                      <a:pt x="19050" y="95250"/>
                    </a:lnTo>
                    <a:cubicBezTo>
                      <a:pt x="8529" y="95250"/>
                      <a:pt x="0" y="86721"/>
                      <a:pt x="0" y="76200"/>
                    </a:cubicBez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D5451B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714375" y="6219825"/>
                <a:ext cx="190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19050">
                    <a:moveTo>
                      <a:pt x="0" y="9525"/>
                    </a:moveTo>
                    <a:cubicBezTo>
                      <a:pt x="0" y="14786"/>
                      <a:pt x="4264" y="19050"/>
                      <a:pt x="9525" y="19050"/>
                    </a:cubicBezTo>
                    <a:cubicBezTo>
                      <a:pt x="14786" y="19050"/>
                      <a:pt x="19050" y="14786"/>
                      <a:pt x="19050" y="9525"/>
                    </a:cubicBezTo>
                    <a:cubicBezTo>
                      <a:pt x="19050" y="4264"/>
                      <a:pt x="14786" y="0"/>
                      <a:pt x="9525" y="0"/>
                    </a:cubicBezTo>
                    <a:cubicBezTo>
                      <a:pt x="4264" y="0"/>
                      <a:pt x="0" y="4264"/>
                      <a:pt x="0" y="9525"/>
                    </a:cubicBezTo>
                  </a:path>
                </a:pathLst>
              </a:custGeom>
              <a:noFill/>
              <a:ln w="19050">
                <a:solidFill>
                  <a:srgbClr val="D5451B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85800" y="6105525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76200"/>
                    </a:move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cubicBezTo>
                      <a:pt x="59142" y="0"/>
                      <a:pt x="76200" y="17058"/>
                      <a:pt x="76200" y="38100"/>
                    </a:cubicBezTo>
                    <a:lnTo>
                      <a:pt x="76200" y="76200"/>
                    </a:lnTo>
                  </a:path>
                </a:pathLst>
              </a:custGeom>
              <a:noFill/>
              <a:ln w="19050">
                <a:solidFill>
                  <a:srgbClr val="D5451B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943356" y="6063615"/>
              <a:ext cx="787847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1414"/>
                  </a:solidFill>
                  <a:latin typeface="Arial"/>
                  <a:ea typeface="Microsoft YaHei"/>
                  <a:cs typeface="Arial"/>
                </a:rPr>
                <a:t>支付、过敏原、法规合规——这些关键结论 AI 说了不算，必须</a:t>
              </a:r>
              <a:r>
                <a:rPr lang="zh-CN" sz="1800" b="1" dirty="0">
                  <a:solidFill>
                    <a:srgbClr val="D5451B"/>
                  </a:solidFill>
                  <a:latin typeface="Arial"/>
                  <a:ea typeface="Microsoft YaHei"/>
                  <a:cs typeface="Arial"/>
                </a:rPr>
                <a:t>人点头</a:t>
              </a:r>
              <a:r>
                <a:rPr lang="zh-CN" sz="1800" dirty="0">
                  <a:solidFill>
                    <a:srgbClr val="141414"/>
                  </a:solidFill>
                  <a:latin typeface="Arial"/>
                  <a:ea typeface="Microsoft YaHei"/>
                  <a:cs typeface="Arial"/>
                </a:rPr>
                <a:t>。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604266" y="6497002"/>
            <a:ext cx="10983468" cy="205359"/>
            <a:chOff x="604266" y="6497002"/>
            <a:chExt cx="10983468" cy="205359"/>
          </a:xfrm>
        </p:grpSpPr>
        <p:sp>
          <p:nvSpPr>
            <p:cNvPr id="50" name="TextBox 50"/>
            <p:cNvSpPr txBox="1"/>
            <p:nvPr/>
          </p:nvSpPr>
          <p:spPr>
            <a:xfrm>
              <a:off x="604266" y="6497002"/>
              <a:ext cx="16586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857A"/>
                  </a:solidFill>
                  <a:latin typeface="Arial"/>
                  <a:ea typeface="Microsoft YaHei"/>
                  <a:cs typeface="Arial"/>
                </a:rPr>
                <a:t>Arrival Ready · 迎客验收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103540" y="64970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8B857A"/>
                  </a:solidFill>
                  <a:latin typeface="Arial"/>
                  <a:ea typeface="Arial"/>
                  <a:cs typeface="Arial"/>
                </a:rPr>
                <a:t>07 / 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98932" y="819150"/>
            <a:ext cx="2305812" cy="3586734"/>
            <a:chOff x="598932" y="819150"/>
            <a:chExt cx="2305812" cy="3586734"/>
          </a:xfrm>
        </p:grpSpPr>
        <p:sp>
          <p:nvSpPr>
            <p:cNvPr id="3" name="Rectangle 3"/>
            <p:cNvSpPr/>
            <p:nvPr/>
          </p:nvSpPr>
          <p:spPr>
            <a:xfrm>
              <a:off x="609600" y="819150"/>
              <a:ext cx="38100" cy="609600"/>
            </a:xfrm>
            <a:prstGeom prst="rect">
              <a:avLst/>
            </a:prstGeom>
            <a:solidFill>
              <a:srgbClr val="D5451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6760" y="819150"/>
              <a:ext cx="2030730" cy="10820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900"/>
                </a:lnSpc>
              </a:pPr>
              <a:r>
                <a:rPr lang="zh-CN" sz="3000" b="1" dirty="0">
                  <a:solidFill>
                    <a:srgbClr val="111111"/>
                  </a:solidFill>
                  <a:latin typeface="Arial"/>
                  <a:ea typeface="Microsoft YaHei"/>
                  <a:cs typeface="Arial"/>
                </a:rPr>
                <a:t>红叉变绿，</a:t>
              </a:r>
              <a:r>
                <a:rPr lang="zh-CN" sz="3000" b="1" dirty="0">
                  <a:solidFill>
                    <a:srgbClr val="111111"/>
                  </a:solidFill>
                  <a:latin typeface="Arial"/>
                  <a:ea typeface="Microsoft YaHei"/>
                  <a:cs typeface="Arial"/>
                </a:rPr>
                <a:t>才算完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8932" y="2173605"/>
              <a:ext cx="2221611" cy="121081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150"/>
                </a:lnSpc>
              </a:pPr>
              <a:r>
                <a:rPr lang="zh-CN" sz="2100" dirty="0">
                  <a:solidFill>
                    <a:srgbClr val="141414"/>
                  </a:solidFill>
                  <a:latin typeface="Arial"/>
                  <a:ea typeface="Microsoft YaHei"/>
                  <a:cs typeface="Arial"/>
                </a:rPr>
                <a:t>复测是</a:t>
              </a:r>
              <a:r>
                <a:rPr lang="zh-CN" sz="2100" b="1" dirty="0">
                  <a:solidFill>
                    <a:srgbClr val="141414"/>
                  </a:solidFill>
                  <a:latin typeface="Arial"/>
                  <a:ea typeface="Microsoft YaHei"/>
                  <a:cs typeface="Arial"/>
                </a:rPr>
                <a:t>全新跑一遍</a:t>
              </a:r>
              <a:r>
                <a:rPr lang="zh-CN" sz="2100" dirty="0">
                  <a:solidFill>
                    <a:srgbClr val="141414"/>
                  </a:solidFill>
                  <a:latin typeface="Arial"/>
                  <a:ea typeface="Microsoft YaHei"/>
                  <a:cs typeface="Arial"/>
                </a:rPr>
                <a:t>检查，不是在旧</a:t>
              </a:r>
              <a:r>
                <a:rPr lang="zh-CN" sz="2100" dirty="0">
                  <a:solidFill>
                    <a:srgbClr val="141414"/>
                  </a:solidFill>
                  <a:latin typeface="Arial"/>
                  <a:ea typeface="Microsoft YaHei"/>
                  <a:cs typeface="Arial"/>
                </a:rPr>
                <a:t>报告上打勾。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0456" y="3710940"/>
              <a:ext cx="2304288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700"/>
                </a:lnSpc>
              </a:pPr>
              <a:r>
                <a:rPr lang="zh-CN" sz="1800" dirty="0">
                  <a:solidFill>
                    <a:srgbClr val="57534A"/>
                  </a:solidFill>
                  <a:latin typeface="Arial"/>
                  <a:ea typeface="Microsoft YaHei"/>
                  <a:cs typeface="Arial"/>
                </a:rPr>
                <a:t>旧报告原样留着，</a:t>
              </a:r>
              <a:r>
                <a:rPr lang="zh-CN" sz="1800" dirty="0">
                  <a:solidFill>
                    <a:srgbClr val="57534A"/>
                  </a:solidFill>
                  <a:latin typeface="Arial"/>
                  <a:ea typeface="Microsoft YaHei"/>
                  <a:cs typeface="Arial"/>
                </a:rPr>
                <a:t>两份并排一比，清楚。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096348" y="458152"/>
            <a:ext cx="14913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spc="150" dirty="0">
                <a:solidFill>
                  <a:srgbClr val="8B857A"/>
                </a:solidFill>
                <a:latin typeface="Arial"/>
                <a:ea typeface="Microsoft YaHei"/>
                <a:cs typeface="Arial"/>
              </a:rPr>
              <a:t>PART 2 · 怎么工作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3257550" y="1600200"/>
            <a:ext cx="7962900" cy="3991356"/>
            <a:chOff x="3257550" y="1600200"/>
            <a:chExt cx="7962900" cy="3991356"/>
          </a:xfrm>
        </p:grpSpPr>
        <p:sp>
          <p:nvSpPr>
            <p:cNvPr id="9" name="Rectangle 9"/>
            <p:cNvSpPr/>
            <p:nvPr/>
          </p:nvSpPr>
          <p:spPr>
            <a:xfrm>
              <a:off x="3257550" y="1600200"/>
              <a:ext cx="7962900" cy="3590925"/>
            </a:xfrm>
            <a:prstGeom prst="rect">
              <a:avLst/>
            </a:prstGeom>
            <a:noFill/>
            <a:ln w="19050">
              <a:solidFill>
                <a:srgbClr val="111111"/>
              </a:solidFill>
            </a:ln>
          </p:spPr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76600" y="1619250"/>
              <a:ext cx="7924800" cy="3552825"/>
            </a:xfrm>
            <a:prstGeom prst="rect">
              <a:avLst/>
            </a:prstGeom>
          </p:spPr>
        </p:pic>
        <p:sp>
          <p:nvSpPr>
            <p:cNvPr id="11" name="TextBox 11"/>
            <p:cNvSpPr txBox="1"/>
            <p:nvPr/>
          </p:nvSpPr>
          <p:spPr>
            <a:xfrm>
              <a:off x="5193411" y="5356860"/>
              <a:ext cx="40911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8B857A"/>
                  </a:solidFill>
                  <a:latin typeface="Arial"/>
                  <a:ea typeface="Microsoft YaHei"/>
                  <a:cs typeface="Arial"/>
                </a:rPr>
                <a:t>复测对比（真实界面）：按规则键逐条对齐——缺席 ≠ 通过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267456" y="6057900"/>
            <a:ext cx="8314944" cy="462534"/>
            <a:chOff x="3267456" y="6057900"/>
            <a:chExt cx="8314944" cy="462534"/>
          </a:xfrm>
        </p:grpSpPr>
        <p:sp>
          <p:nvSpPr>
            <p:cNvPr id="13" name="Line 13"/>
            <p:cNvSpPr/>
            <p:nvPr/>
          </p:nvSpPr>
          <p:spPr>
            <a:xfrm>
              <a:off x="3276600" y="6057900"/>
              <a:ext cx="8305800" cy="9525"/>
            </a:xfrm>
            <a:custGeom>
              <a:avLst/>
              <a:gdLst/>
              <a:ahLst/>
              <a:cxnLst/>
              <a:rect l="l" t="t" r="r" b="b"/>
              <a:pathLst>
                <a:path w="8305800" h="9525">
                  <a:moveTo>
                    <a:pt x="0" y="0"/>
                  </a:moveTo>
                  <a:lnTo>
                    <a:pt x="8305800" y="0"/>
                  </a:lnTo>
                </a:path>
              </a:pathLst>
            </a:custGeom>
            <a:noFill/>
            <a:ln w="9525">
              <a:solidFill>
                <a:srgbClr val="ECE9E1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267456" y="6168390"/>
              <a:ext cx="79264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1414"/>
                  </a:solidFill>
                  <a:latin typeface="Arial"/>
                  <a:ea typeface="Microsoft YaHei"/>
                  <a:cs typeface="Arial"/>
                </a:rPr>
                <a:t xml:space="preserve">亲眼看到 </a:t>
              </a:r>
              <a:r>
                <a:rPr lang="zh-CN" sz="1800" b="1" dirty="0">
                  <a:solidFill>
                    <a:srgbClr val="D5451B"/>
                  </a:solidFill>
                  <a:latin typeface="Arial"/>
                  <a:ea typeface="Microsoft YaHei"/>
                  <a:cs typeface="Arial"/>
                </a:rPr>
                <a:t>FAIL 变 PASS</a:t>
              </a:r>
              <a:r>
                <a:rPr lang="zh-CN" sz="1800" dirty="0">
                  <a:solidFill>
                    <a:srgbClr val="141414"/>
                  </a:solidFill>
                  <a:latin typeface="Arial"/>
                  <a:ea typeface="Microsoft YaHei"/>
                  <a:cs typeface="Arial"/>
                </a:rPr>
                <a:t>——这一幕，比任何漂亮的 AI 建议都有说服力。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04266" y="6497002"/>
            <a:ext cx="10983468" cy="205359"/>
            <a:chOff x="604266" y="6497002"/>
            <a:chExt cx="10983468" cy="205359"/>
          </a:xfrm>
        </p:grpSpPr>
        <p:sp>
          <p:nvSpPr>
            <p:cNvPr id="16" name="TextBox 16"/>
            <p:cNvSpPr txBox="1"/>
            <p:nvPr/>
          </p:nvSpPr>
          <p:spPr>
            <a:xfrm>
              <a:off x="604266" y="6497002"/>
              <a:ext cx="16586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857A"/>
                  </a:solidFill>
                  <a:latin typeface="Arial"/>
                  <a:ea typeface="Microsoft YaHei"/>
                  <a:cs typeface="Arial"/>
                </a:rPr>
                <a:t>Arrival Ready · 迎客验收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103540" y="64970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8B857A"/>
                  </a:solidFill>
                  <a:latin typeface="Arial"/>
                  <a:ea typeface="Arial"/>
                  <a:cs typeface="Arial"/>
                </a:rPr>
                <a:t>08 / 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98932" y="419100"/>
            <a:ext cx="10988802" cy="1060323"/>
            <a:chOff x="598932" y="419100"/>
            <a:chExt cx="10988802" cy="1060323"/>
          </a:xfrm>
        </p:grpSpPr>
        <p:sp>
          <p:nvSpPr>
            <p:cNvPr id="3" name="Rectangle 3"/>
            <p:cNvSpPr/>
            <p:nvPr/>
          </p:nvSpPr>
          <p:spPr>
            <a:xfrm>
              <a:off x="609600" y="495300"/>
              <a:ext cx="38100" cy="304800"/>
            </a:xfrm>
            <a:prstGeom prst="rect">
              <a:avLst/>
            </a:prstGeom>
            <a:solidFill>
              <a:srgbClr val="D5451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6760" y="419100"/>
              <a:ext cx="384695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11111"/>
                  </a:solidFill>
                  <a:latin typeface="Arial"/>
                  <a:ea typeface="Microsoft YaHei"/>
                  <a:cs typeface="Arial"/>
                </a:rPr>
                <a:t>底下还有五条硬规矩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096348" y="458152"/>
              <a:ext cx="14913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spc="150" dirty="0">
                  <a:solidFill>
                    <a:srgbClr val="8B857A"/>
                  </a:solidFill>
                  <a:latin typeface="Arial"/>
                  <a:ea typeface="Microsoft YaHei"/>
                  <a:cs typeface="Arial"/>
                </a:rPr>
                <a:t>PART 3 · 凭什么信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8932" y="1068705"/>
              <a:ext cx="913847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141414"/>
                  </a:solidFill>
                  <a:latin typeface="Arial"/>
                  <a:ea typeface="Microsoft YaHei"/>
                  <a:cs typeface="Arial"/>
                </a:rPr>
                <a:t>五条规矩：分数可信、结果可复现、崩了能续、数据隔离、</a:t>
              </a:r>
              <a:r>
                <a:rPr lang="zh-CN" sz="2100" b="1" dirty="0">
                  <a:solidFill>
                    <a:srgbClr val="141414"/>
                  </a:solidFill>
                  <a:latin typeface="Arial"/>
                  <a:ea typeface="Microsoft YaHei"/>
                  <a:cs typeface="Arial"/>
                </a:rPr>
                <a:t>记录不可改</a:t>
              </a:r>
              <a:r>
                <a:rPr lang="zh-CN" sz="2100" dirty="0">
                  <a:solidFill>
                    <a:srgbClr val="141414"/>
                  </a:solidFill>
                  <a:latin typeface="Arial"/>
                  <a:ea typeface="Microsoft YaHei"/>
                  <a:cs typeface="Arial"/>
                </a:rPr>
                <a:t>。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00100" y="1866900"/>
            <a:ext cx="4804277" cy="3657600"/>
            <a:chOff x="800100" y="1866900"/>
            <a:chExt cx="4804277" cy="3657600"/>
          </a:xfrm>
        </p:grpSpPr>
        <p:sp>
          <p:nvSpPr>
            <p:cNvPr id="8" name="Line 8"/>
            <p:cNvSpPr/>
            <p:nvPr/>
          </p:nvSpPr>
          <p:spPr>
            <a:xfrm>
              <a:off x="952500" y="1905000"/>
              <a:ext cx="9525" cy="3619500"/>
            </a:xfrm>
            <a:custGeom>
              <a:avLst/>
              <a:gdLst/>
              <a:ahLst/>
              <a:cxnLst/>
              <a:rect l="l" t="t" r="r" b="b"/>
              <a:pathLst>
                <a:path w="9525" h="3619500">
                  <a:moveTo>
                    <a:pt x="0" y="0"/>
                  </a:moveTo>
                  <a:lnTo>
                    <a:pt x="0" y="3619500"/>
                  </a:lnTo>
                </a:path>
              </a:pathLst>
            </a:custGeom>
            <a:noFill/>
            <a:ln w="14288">
              <a:solidFill>
                <a:srgbClr val="D9D4C9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800100" y="1866900"/>
              <a:ext cx="304800" cy="304800"/>
            </a:xfrm>
            <a:prstGeom prst="ellipse">
              <a:avLst/>
            </a:prstGeom>
            <a:solidFill>
              <a:srgbClr val="FFFFFF"/>
            </a:solidFill>
            <a:ln w="14288">
              <a:solidFill>
                <a:srgbClr val="274C77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99758" y="19469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74C77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24356" y="1901190"/>
              <a:ext cx="42140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41414"/>
                  </a:solidFill>
                  <a:latin typeface="Arial"/>
                  <a:ea typeface="Microsoft YaHei"/>
                  <a:cs typeface="Arial"/>
                </a:rPr>
                <a:t>分数机器算</a:t>
              </a:r>
              <a:r>
                <a:rPr lang="zh-CN" sz="1350" dirty="0">
                  <a:solidFill>
                    <a:srgbClr val="57534A"/>
                  </a:solidFill>
                  <a:latin typeface="Arial"/>
                  <a:ea typeface="Microsoft YaHei"/>
                  <a:cs typeface="Arial"/>
                </a:rPr>
                <a:t xml:space="preserve"> —— AI 无权打分，评分冻结后不改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800100" y="2628900"/>
              <a:ext cx="304800" cy="304800"/>
            </a:xfrm>
            <a:prstGeom prst="ellipse">
              <a:avLst/>
            </a:prstGeom>
            <a:solidFill>
              <a:srgbClr val="FFFFFF"/>
            </a:solidFill>
            <a:ln w="14288">
              <a:solidFill>
                <a:srgbClr val="274C77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99758" y="27089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74C77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24356" y="2663190"/>
              <a:ext cx="396198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41414"/>
                  </a:solidFill>
                  <a:latin typeface="Arial"/>
                  <a:ea typeface="Microsoft YaHei"/>
                  <a:cs typeface="Arial"/>
                </a:rPr>
                <a:t>结果可复现</a:t>
              </a:r>
              <a:r>
                <a:rPr lang="zh-CN" sz="1350" dirty="0">
                  <a:solidFill>
                    <a:srgbClr val="57534A"/>
                  </a:solidFill>
                  <a:latin typeface="Arial"/>
                  <a:ea typeface="Microsoft YaHei"/>
                  <a:cs typeface="Arial"/>
                </a:rPr>
                <a:t xml:space="preserve"> —— 同样的输入，跑出同样的检查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800100" y="3390900"/>
              <a:ext cx="304800" cy="304800"/>
            </a:xfrm>
            <a:prstGeom prst="ellipse">
              <a:avLst/>
            </a:prstGeom>
            <a:solidFill>
              <a:srgbClr val="FFFFFF"/>
            </a:solidFill>
            <a:ln w="14288">
              <a:solidFill>
                <a:srgbClr val="274C77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99758" y="34709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74C77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24356" y="3425190"/>
              <a:ext cx="414371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41414"/>
                  </a:solidFill>
                  <a:latin typeface="Arial"/>
                  <a:ea typeface="Microsoft YaHei"/>
                  <a:cs typeface="Arial"/>
                </a:rPr>
                <a:t>中断接着跑</a:t>
              </a:r>
              <a:r>
                <a:rPr lang="zh-CN" sz="1350" dirty="0">
                  <a:solidFill>
                    <a:srgbClr val="57534A"/>
                  </a:solidFill>
                  <a:latin typeface="Arial"/>
                  <a:ea typeface="Microsoft YaHei"/>
                  <a:cs typeface="Arial"/>
                </a:rPr>
                <a:t xml:space="preserve"> —— 任务可恢复，崩溃不用从头再来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800100" y="4152900"/>
              <a:ext cx="304800" cy="304800"/>
            </a:xfrm>
            <a:prstGeom prst="ellipse">
              <a:avLst/>
            </a:prstGeom>
            <a:solidFill>
              <a:srgbClr val="FFFFFF"/>
            </a:solidFill>
            <a:ln w="14288">
              <a:solidFill>
                <a:srgbClr val="274C77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99758" y="42329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74C77"/>
                  </a:solidFill>
                  <a:latin typeface="Arial"/>
                  <a:ea typeface="Arial"/>
                  <a:cs typeface="Arial"/>
                </a:rPr>
                <a:t>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324356" y="4187190"/>
              <a:ext cx="42800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41414"/>
                  </a:solidFill>
                  <a:latin typeface="Arial"/>
                  <a:ea typeface="Microsoft YaHei"/>
                  <a:cs typeface="Arial"/>
                </a:rPr>
                <a:t>数据各归各家</a:t>
              </a:r>
              <a:r>
                <a:rPr lang="zh-CN" sz="1350" dirty="0">
                  <a:solidFill>
                    <a:srgbClr val="57534A"/>
                  </a:solidFill>
                  <a:latin typeface="Arial"/>
                  <a:ea typeface="Microsoft YaHei"/>
                  <a:cs typeface="Arial"/>
                </a:rPr>
                <a:t xml:space="preserve"> —— 跨商户读写，全部 fail closed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800100" y="4914900"/>
              <a:ext cx="304800" cy="304800"/>
            </a:xfrm>
            <a:prstGeom prst="ellipse">
              <a:avLst/>
            </a:prstGeom>
            <a:solidFill>
              <a:srgbClr val="FFFFFF"/>
            </a:solidFill>
            <a:ln w="14288">
              <a:solidFill>
                <a:srgbClr val="274C77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99758" y="49949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74C77"/>
                  </a:solidFill>
                  <a:latin typeface="Arial"/>
                  <a:ea typeface="Arial"/>
                  <a:cs typeface="Arial"/>
                </a:rPr>
                <a:t>5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324356" y="4949190"/>
              <a:ext cx="413463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41414"/>
                  </a:solidFill>
                  <a:latin typeface="Arial"/>
                  <a:ea typeface="Microsoft YaHei"/>
                  <a:cs typeface="Arial"/>
                </a:rPr>
                <a:t>记录不可变</a:t>
              </a:r>
              <a:r>
                <a:rPr lang="zh-CN" sz="1350" dirty="0">
                  <a:solidFill>
                    <a:srgbClr val="57534A"/>
                  </a:solidFill>
                  <a:latin typeface="Arial"/>
                  <a:ea typeface="Microsoft YaHei"/>
                  <a:cs typeface="Arial"/>
                </a:rPr>
                <a:t xml:space="preserve"> —— 审计完成即存档，复测开新 run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8763000" y="1905000"/>
            <a:ext cx="2819400" cy="1714500"/>
            <a:chOff x="8763000" y="1905000"/>
            <a:chExt cx="2819400" cy="1714500"/>
          </a:xfrm>
        </p:grpSpPr>
        <p:sp>
          <p:nvSpPr>
            <p:cNvPr id="25" name="Rectangle 25"/>
            <p:cNvSpPr/>
            <p:nvPr/>
          </p:nvSpPr>
          <p:spPr>
            <a:xfrm>
              <a:off x="8763000" y="1905000"/>
              <a:ext cx="2819400" cy="1714500"/>
            </a:xfrm>
            <a:prstGeom prst="rect">
              <a:avLst/>
            </a:prstGeom>
            <a:solidFill>
              <a:srgbClr val="F6F4EF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9047163" y="2178050"/>
              <a:ext cx="166687" cy="177801"/>
              <a:chOff x="9047163" y="2178050"/>
              <a:chExt cx="166687" cy="177801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9047163" y="2311401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19050">
                <a:solidFill>
                  <a:srgbClr val="274C77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9047163" y="2178050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19050">
                <a:solidFill>
                  <a:srgbClr val="274C77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9158288" y="2178050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19050">
                <a:solidFill>
                  <a:srgbClr val="274C77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9069388" y="2222500"/>
                <a:ext cx="95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8900">
                    <a:moveTo>
                      <a:pt x="0" y="0"/>
                    </a:moveTo>
                    <a:lnTo>
                      <a:pt x="0" y="88900"/>
                    </a:lnTo>
                  </a:path>
                </a:pathLst>
              </a:custGeom>
              <a:noFill/>
              <a:ln w="19050">
                <a:solidFill>
                  <a:srgbClr val="274C77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9091613" y="2255838"/>
                <a:ext cx="88900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77788">
                    <a:moveTo>
                      <a:pt x="0" y="77788"/>
                    </a:moveTo>
                    <a:lnTo>
                      <a:pt x="66675" y="77788"/>
                    </a:lnTo>
                    <a:cubicBezTo>
                      <a:pt x="78950" y="77788"/>
                      <a:pt x="88900" y="67837"/>
                      <a:pt x="88900" y="55563"/>
                    </a:cubicBezTo>
                    <a:lnTo>
                      <a:pt x="88900" y="0"/>
                    </a:lnTo>
                  </a:path>
                </a:pathLst>
              </a:custGeom>
              <a:noFill/>
              <a:ln w="19050">
                <a:solidFill>
                  <a:srgbClr val="274C77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9147175" y="2255838"/>
                <a:ext cx="66675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33338">
                    <a:moveTo>
                      <a:pt x="0" y="33338"/>
                    </a:moveTo>
                    <a:lnTo>
                      <a:pt x="33338" y="0"/>
                    </a:lnTo>
                    <a:lnTo>
                      <a:pt x="66675" y="33338"/>
                    </a:lnTo>
                  </a:path>
                </a:pathLst>
              </a:custGeom>
              <a:noFill/>
              <a:ln w="19050">
                <a:solidFill>
                  <a:srgbClr val="274C77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9363456" y="2139315"/>
              <a:ext cx="148343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11111"/>
                  </a:solidFill>
                  <a:latin typeface="Arial"/>
                  <a:ea typeface="Microsoft YaHei"/>
                  <a:cs typeface="Arial"/>
                </a:rPr>
                <a:t>离线 CI 全绿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984742" y="2597468"/>
              <a:ext cx="1891094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rgbClr val="57534A"/>
                  </a:solidFill>
                  <a:latin typeface="Arial"/>
                  <a:ea typeface="Microsoft YaHei"/>
                  <a:cs typeface="Arial"/>
                </a:rPr>
                <a:t>契约 / Go / AI / Web</a:t>
              </a:r>
              <a:r>
                <a:rPr lang="zh-CN" sz="1350" dirty="0">
                  <a:solidFill>
                    <a:srgbClr val="57534A"/>
                  </a:solidFill>
                  <a:latin typeface="Arial"/>
                  <a:ea typeface="Microsoft YaHei"/>
                  <a:cs typeface="Arial"/>
                </a:rPr>
                <a:t>四个作业，没有模型 key</a:t>
              </a:r>
              <a:r>
                <a:rPr lang="zh-CN" sz="1350" dirty="0">
                  <a:solidFill>
                    <a:srgbClr val="57534A"/>
                  </a:solidFill>
                  <a:latin typeface="Arial"/>
                  <a:ea typeface="Microsoft YaHei"/>
                  <a:cs typeface="Arial"/>
                </a:rPr>
                <a:t>也能跑，GitHub 全绿。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8763000" y="3810000"/>
            <a:ext cx="2819400" cy="1714500"/>
            <a:chOff x="8763000" y="3810000"/>
            <a:chExt cx="2819400" cy="1714500"/>
          </a:xfrm>
        </p:grpSpPr>
        <p:sp>
          <p:nvSpPr>
            <p:cNvPr id="36" name="Rectangle 36"/>
            <p:cNvSpPr/>
            <p:nvPr/>
          </p:nvSpPr>
          <p:spPr>
            <a:xfrm>
              <a:off x="8763000" y="3810000"/>
              <a:ext cx="2819400" cy="1714500"/>
            </a:xfrm>
            <a:prstGeom prst="rect">
              <a:avLst/>
            </a:prstGeom>
            <a:solidFill>
              <a:srgbClr val="F6F4EF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9036050" y="4071938"/>
              <a:ext cx="177801" cy="200026"/>
              <a:chOff x="9036050" y="4071938"/>
              <a:chExt cx="177801" cy="200026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9036050" y="4071938"/>
                <a:ext cx="177801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200026">
                    <a:moveTo>
                      <a:pt x="0" y="22225"/>
                    </a:moveTo>
                    <a:cubicBezTo>
                      <a:pt x="0" y="9950"/>
                      <a:pt x="9950" y="0"/>
                      <a:pt x="22225" y="0"/>
                    </a:cubicBezTo>
                    <a:lnTo>
                      <a:pt x="155575" y="0"/>
                    </a:lnTo>
                    <a:cubicBezTo>
                      <a:pt x="167850" y="0"/>
                      <a:pt x="177801" y="9950"/>
                      <a:pt x="177801" y="22225"/>
                    </a:cubicBezTo>
                    <a:lnTo>
                      <a:pt x="177801" y="177801"/>
                    </a:lnTo>
                    <a:cubicBezTo>
                      <a:pt x="177801" y="190075"/>
                      <a:pt x="167850" y="200026"/>
                      <a:pt x="155575" y="200026"/>
                    </a:cubicBezTo>
                    <a:lnTo>
                      <a:pt x="22225" y="200026"/>
                    </a:lnTo>
                    <a:cubicBezTo>
                      <a:pt x="9950" y="200026"/>
                      <a:pt x="0" y="190075"/>
                      <a:pt x="0" y="177801"/>
                    </a:cubicBezTo>
                    <a:lnTo>
                      <a:pt x="0" y="22225"/>
                    </a:lnTo>
                  </a:path>
                </a:pathLst>
              </a:custGeom>
              <a:noFill/>
              <a:ln w="19050">
                <a:solidFill>
                  <a:srgbClr val="274C77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9080500" y="4116388"/>
                <a:ext cx="88900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33338">
                    <a:moveTo>
                      <a:pt x="0" y="11113"/>
                    </a:moveTo>
                    <a:cubicBezTo>
                      <a:pt x="0" y="4975"/>
                      <a:pt x="4975" y="0"/>
                      <a:pt x="11113" y="0"/>
                    </a:cubicBezTo>
                    <a:lnTo>
                      <a:pt x="77788" y="0"/>
                    </a:lnTo>
                    <a:cubicBezTo>
                      <a:pt x="83925" y="0"/>
                      <a:pt x="88900" y="4975"/>
                      <a:pt x="88900" y="11113"/>
                    </a:cubicBezTo>
                    <a:lnTo>
                      <a:pt x="88900" y="22225"/>
                    </a:lnTo>
                    <a:cubicBezTo>
                      <a:pt x="88900" y="28362"/>
                      <a:pt x="83925" y="33338"/>
                      <a:pt x="77788" y="33338"/>
                    </a:cubicBezTo>
                    <a:lnTo>
                      <a:pt x="11113" y="33338"/>
                    </a:lnTo>
                    <a:cubicBezTo>
                      <a:pt x="4975" y="33338"/>
                      <a:pt x="0" y="28362"/>
                      <a:pt x="0" y="22225"/>
                    </a:cubicBezTo>
                    <a:lnTo>
                      <a:pt x="0" y="11113"/>
                    </a:lnTo>
                  </a:path>
                </a:pathLst>
              </a:custGeom>
              <a:noFill/>
              <a:ln w="19050">
                <a:solidFill>
                  <a:srgbClr val="274C77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9080500" y="41941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1"/>
                    </a:lnTo>
                  </a:path>
                </a:pathLst>
              </a:custGeom>
              <a:noFill/>
              <a:ln w="19050">
                <a:solidFill>
                  <a:srgbClr val="274C77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9124950" y="41941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1"/>
                    </a:lnTo>
                  </a:path>
                </a:pathLst>
              </a:custGeom>
              <a:noFill/>
              <a:ln w="19050">
                <a:solidFill>
                  <a:srgbClr val="274C77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9169401" y="41941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1"/>
                    </a:lnTo>
                  </a:path>
                </a:pathLst>
              </a:custGeom>
              <a:noFill/>
              <a:ln w="19050">
                <a:solidFill>
                  <a:srgbClr val="274C77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9080500" y="422751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1"/>
                    </a:lnTo>
                  </a:path>
                </a:pathLst>
              </a:custGeom>
              <a:noFill/>
              <a:ln w="19050">
                <a:solidFill>
                  <a:srgbClr val="274C77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9124950" y="422751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1"/>
                    </a:lnTo>
                  </a:path>
                </a:pathLst>
              </a:custGeom>
              <a:noFill/>
              <a:ln w="19050">
                <a:solidFill>
                  <a:srgbClr val="274C77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9169401" y="422751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1"/>
                    </a:lnTo>
                  </a:path>
                </a:pathLst>
              </a:custGeom>
              <a:noFill/>
              <a:ln w="19050">
                <a:solidFill>
                  <a:srgbClr val="274C77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9363456" y="4044315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11111"/>
                  </a:solidFill>
                  <a:latin typeface="Arial"/>
                  <a:ea typeface="Microsoft YaHei"/>
                  <a:cs typeface="Arial"/>
                </a:rPr>
                <a:t>评分公式钉死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984742" y="4502468"/>
              <a:ext cx="1728216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rgbClr val="57534A"/>
                  </a:solidFill>
                  <a:latin typeface="Arial"/>
                  <a:ea typeface="Microsoft YaHei"/>
                  <a:cs typeface="Arial"/>
                </a:rPr>
                <a:t>手算样例写进单测：</a:t>
              </a:r>
              <a:r>
                <a:rPr lang="en-US" sz="1350" dirty="0">
                  <a:solidFill>
                    <a:srgbClr val="57534A"/>
                  </a:solidFill>
                  <a:latin typeface="Consolas"/>
                  <a:ea typeface="Consolas"/>
                  <a:cs typeface="Consolas"/>
                </a:rPr>
                <a:t>62.50 / 83.33</a:t>
              </a:r>
              <a:r>
                <a:rPr lang="zh-CN" sz="1350" dirty="0">
                  <a:solidFill>
                    <a:srgbClr val="57534A"/>
                  </a:solidFill>
                  <a:latin typeface="Arial"/>
                  <a:ea typeface="Microsoft YaHei"/>
                  <a:cs typeface="Arial"/>
                </a:rPr>
                <a:t>分数对不上，就打回。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04266" y="6497002"/>
            <a:ext cx="10983468" cy="205359"/>
            <a:chOff x="604266" y="6497002"/>
            <a:chExt cx="10983468" cy="205359"/>
          </a:xfrm>
        </p:grpSpPr>
        <p:sp>
          <p:nvSpPr>
            <p:cNvPr id="49" name="TextBox 49"/>
            <p:cNvSpPr txBox="1"/>
            <p:nvPr/>
          </p:nvSpPr>
          <p:spPr>
            <a:xfrm>
              <a:off x="604266" y="6497002"/>
              <a:ext cx="16586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857A"/>
                  </a:solidFill>
                  <a:latin typeface="Arial"/>
                  <a:ea typeface="Microsoft YaHei"/>
                  <a:cs typeface="Arial"/>
                </a:rPr>
                <a:t>Arrival Ready · 迎客验收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103540" y="64970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8B857A"/>
                  </a:solidFill>
                  <a:latin typeface="Arial"/>
                  <a:ea typeface="Arial"/>
                  <a:cs typeface="Arial"/>
                </a:rPr>
                <a:t>09 / 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98932" y="419100"/>
            <a:ext cx="10988802" cy="1060323"/>
            <a:chOff x="598932" y="419100"/>
            <a:chExt cx="10988802" cy="1060323"/>
          </a:xfrm>
        </p:grpSpPr>
        <p:sp>
          <p:nvSpPr>
            <p:cNvPr id="3" name="Rectangle 3"/>
            <p:cNvSpPr/>
            <p:nvPr/>
          </p:nvSpPr>
          <p:spPr>
            <a:xfrm>
              <a:off x="609600" y="495300"/>
              <a:ext cx="38100" cy="304800"/>
            </a:xfrm>
            <a:prstGeom prst="rect">
              <a:avLst/>
            </a:prstGeom>
            <a:solidFill>
              <a:srgbClr val="D5451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6760" y="419100"/>
              <a:ext cx="2998851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11111"/>
                  </a:solidFill>
                  <a:latin typeface="Arial"/>
                  <a:ea typeface="Microsoft YaHei"/>
                  <a:cs typeface="Arial"/>
                </a:rPr>
                <a:t>做到哪，说到哪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096348" y="458152"/>
              <a:ext cx="14913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spc="150" dirty="0">
                  <a:solidFill>
                    <a:srgbClr val="8B857A"/>
                  </a:solidFill>
                  <a:latin typeface="Arial"/>
                  <a:ea typeface="Microsoft YaHei"/>
                  <a:cs typeface="Arial"/>
                </a:rPr>
                <a:t>PART 3 · 凭什么信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8932" y="1068705"/>
              <a:ext cx="898298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141414"/>
                  </a:solidFill>
                  <a:latin typeface="Arial"/>
                  <a:ea typeface="Microsoft YaHei"/>
                  <a:cs typeface="Arial"/>
                </a:rPr>
                <a:t>完成了什么、没完成什么，一张表说清——</a:t>
              </a:r>
              <a:r>
                <a:rPr lang="zh-CN" sz="2100" b="1" dirty="0">
                  <a:solidFill>
                    <a:srgbClr val="141414"/>
                  </a:solidFill>
                  <a:latin typeface="Arial"/>
                  <a:ea typeface="Microsoft YaHei"/>
                  <a:cs typeface="Arial"/>
                </a:rPr>
                <a:t>不拿演示效果冒充产品能力</a:t>
              </a:r>
              <a:r>
                <a:rPr lang="zh-CN" sz="2100" dirty="0">
                  <a:solidFill>
                    <a:srgbClr val="141414"/>
                  </a:solidFill>
                  <a:latin typeface="Arial"/>
                  <a:ea typeface="Microsoft YaHei"/>
                  <a:cs typeface="Arial"/>
                </a:rPr>
                <a:t>。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09600" y="1809750"/>
            <a:ext cx="10972800" cy="3396234"/>
            <a:chOff x="609600" y="1809750"/>
            <a:chExt cx="10972800" cy="3396234"/>
          </a:xfrm>
        </p:grpSpPr>
        <p:sp>
          <p:nvSpPr>
            <p:cNvPr id="8" name="Rectangle 8"/>
            <p:cNvSpPr/>
            <p:nvPr/>
          </p:nvSpPr>
          <p:spPr>
            <a:xfrm>
              <a:off x="609600" y="1809750"/>
              <a:ext cx="10972800" cy="3390900"/>
            </a:xfrm>
            <a:prstGeom prst="rect">
              <a:avLst/>
            </a:prstGeom>
            <a:noFill/>
            <a:ln w="14288">
              <a:solidFill>
                <a:srgbClr val="D9D4C9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609600" y="1809750"/>
              <a:ext cx="10972800" cy="419100"/>
            </a:xfrm>
            <a:prstGeom prst="rect">
              <a:avLst/>
            </a:prstGeom>
            <a:solidFill>
              <a:srgbClr val="F6F4EF"/>
            </a:solidFill>
            <a:ln>
              <a:noFill/>
            </a:ln>
          </p:spPr>
        </p:sp>
        <p:sp>
          <p:nvSpPr>
            <p:cNvPr id="10" name="Line 10"/>
            <p:cNvSpPr/>
            <p:nvPr/>
          </p:nvSpPr>
          <p:spPr>
            <a:xfrm>
              <a:off x="609600" y="2228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4288">
              <a:solidFill>
                <a:srgbClr val="D9D4C9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94004" y="1946910"/>
              <a:ext cx="3615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75" dirty="0">
                  <a:solidFill>
                    <a:srgbClr val="57534A"/>
                  </a:solidFill>
                  <a:latin typeface="Arial"/>
                  <a:ea typeface="Microsoft YaHei"/>
                  <a:cs typeface="Arial"/>
                </a:rPr>
                <a:t>能力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058110" y="1946910"/>
              <a:ext cx="3615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spc="75" dirty="0">
                  <a:solidFill>
                    <a:srgbClr val="57534A"/>
                  </a:solidFill>
                  <a:latin typeface="Arial"/>
                  <a:ea typeface="Microsoft YaHei"/>
                  <a:cs typeface="Arial"/>
                </a:rPr>
                <a:t>状态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042404" y="1946910"/>
              <a:ext cx="9006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75" dirty="0">
                  <a:solidFill>
                    <a:srgbClr val="57534A"/>
                  </a:solidFill>
                  <a:latin typeface="Arial"/>
                  <a:ea typeface="Microsoft YaHei"/>
                  <a:cs typeface="Arial"/>
                </a:rPr>
                <a:t>怎么验证的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5619750" y="1809750"/>
              <a:ext cx="9525" cy="3390900"/>
            </a:xfrm>
            <a:custGeom>
              <a:avLst/>
              <a:gdLst/>
              <a:ahLst/>
              <a:cxnLst/>
              <a:rect l="l" t="t" r="r" b="b"/>
              <a:pathLst>
                <a:path w="9525" h="3390900">
                  <a:moveTo>
                    <a:pt x="0" y="0"/>
                  </a:moveTo>
                  <a:lnTo>
                    <a:pt x="0" y="3390900"/>
                  </a:lnTo>
                </a:path>
              </a:pathLst>
            </a:custGeom>
            <a:noFill/>
            <a:ln w="9525">
              <a:solidFill>
                <a:srgbClr val="ECE9E1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6858000" y="1809750"/>
              <a:ext cx="9525" cy="3390900"/>
            </a:xfrm>
            <a:custGeom>
              <a:avLst/>
              <a:gdLst/>
              <a:ahLst/>
              <a:cxnLst/>
              <a:rect l="l" t="t" r="r" b="b"/>
              <a:pathLst>
                <a:path w="9525" h="3390900">
                  <a:moveTo>
                    <a:pt x="0" y="0"/>
                  </a:moveTo>
                  <a:lnTo>
                    <a:pt x="0" y="3390900"/>
                  </a:lnTo>
                </a:path>
              </a:pathLst>
            </a:custGeom>
            <a:noFill/>
            <a:ln w="9525">
              <a:solidFill>
                <a:srgbClr val="ECE9E1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609600" y="27241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ECE9E1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609600" y="32194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ECE9E1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609600" y="37147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ECE9E1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609600" y="42100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ECE9E1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609600" y="4705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ECE9E1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90956" y="2377440"/>
              <a:ext cx="36893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1414"/>
                  </a:solidFill>
                  <a:latin typeface="Arial"/>
                  <a:ea typeface="Microsoft YaHei"/>
                  <a:cs typeface="Arial"/>
                </a:rPr>
                <a:t>建档 + 证据上传（校验、防抵赖）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848083" y="237744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F7A4D"/>
                  </a:solidFill>
                  <a:latin typeface="Arial"/>
                  <a:ea typeface="Microsoft YaHei"/>
                  <a:cs typeface="Arial"/>
                </a:rPr>
                <a:t>已交付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041642" y="2406968"/>
              <a:ext cx="26028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7534A"/>
                  </a:solidFill>
                  <a:latin typeface="Arial"/>
                  <a:ea typeface="Microsoft YaHei"/>
                  <a:cs typeface="Arial"/>
                </a:rPr>
                <a:t>Go 集成测试 + 真实 MinIO 实跑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90956" y="2872740"/>
              <a:ext cx="36748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1414"/>
                  </a:solidFill>
                  <a:latin typeface="Arial"/>
                  <a:ea typeface="Microsoft YaHei"/>
                  <a:cs typeface="Arial"/>
                </a:rPr>
                <a:t>真实模型结构化评估（StepFun）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848083" y="287274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F7A4D"/>
                  </a:solidFill>
                  <a:latin typeface="Arial"/>
                  <a:ea typeface="Microsoft YaHei"/>
                  <a:cs typeface="Arial"/>
                </a:rPr>
                <a:t>已交付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041642" y="2902268"/>
              <a:ext cx="23372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7534A"/>
                  </a:solidFill>
                  <a:latin typeface="Arial"/>
                  <a:ea typeface="Microsoft YaHei"/>
                  <a:cs typeface="Arial"/>
                </a:rPr>
                <a:t>真实调用冒烟 + 全流程 E2E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90956" y="3368040"/>
              <a:ext cx="372572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1414"/>
                  </a:solidFill>
                  <a:latin typeface="Arial"/>
                  <a:ea typeface="Microsoft YaHei"/>
                  <a:cs typeface="Arial"/>
                </a:rPr>
                <a:t>人审四操作 + 机器算分 + 报告冻结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848083" y="336804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F7A4D"/>
                  </a:solidFill>
                  <a:latin typeface="Arial"/>
                  <a:ea typeface="Microsoft YaHei"/>
                  <a:cs typeface="Arial"/>
                </a:rPr>
                <a:t>已交付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041642" y="3397568"/>
              <a:ext cx="30396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7534A"/>
                  </a:solidFill>
                  <a:latin typeface="Arial"/>
                  <a:ea typeface="Microsoft YaHei"/>
                  <a:cs typeface="Arial"/>
                </a:rPr>
                <a:t>手算样例单测钉死（62.50 / 83.33）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90956" y="3863340"/>
              <a:ext cx="27201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1414"/>
                  </a:solidFill>
                  <a:latin typeface="Arial"/>
                  <a:ea typeface="Microsoft YaHei"/>
                  <a:cs typeface="Arial"/>
                </a:rPr>
                <a:t>整改任务 + 复测前后对比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848083" y="386334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F7A4D"/>
                  </a:solidFill>
                  <a:latin typeface="Arial"/>
                  <a:ea typeface="Microsoft YaHei"/>
                  <a:cs typeface="Arial"/>
                </a:rPr>
                <a:t>已交付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041642" y="3892868"/>
              <a:ext cx="17035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7534A"/>
                  </a:solidFill>
                  <a:latin typeface="Arial"/>
                  <a:ea typeface="Microsoft YaHei"/>
                  <a:cs typeface="Arial"/>
                </a:rPr>
                <a:t>API 实跑 + E2E 通过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90956" y="4358640"/>
              <a:ext cx="28474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1414"/>
                  </a:solidFill>
                  <a:latin typeface="Arial"/>
                  <a:ea typeface="Microsoft YaHei"/>
                  <a:cs typeface="Arial"/>
                </a:rPr>
                <a:t>URL 自动抓取 / PDF 解析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848083" y="435864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B7520E"/>
                  </a:solidFill>
                  <a:latin typeface="Arial"/>
                  <a:ea typeface="Microsoft YaHei"/>
                  <a:cs typeface="Arial"/>
                </a:rPr>
                <a:t>未完成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041642" y="43881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7534A"/>
                  </a:solidFill>
                  <a:latin typeface="Arial"/>
                  <a:ea typeface="Microsoft YaHei"/>
                  <a:cs typeface="Arial"/>
                </a:rPr>
                <a:t>显式声明，不冒充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90956" y="4853940"/>
              <a:ext cx="33061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1414"/>
                  </a:solidFill>
                  <a:latin typeface="Arial"/>
                  <a:ea typeface="Microsoft YaHei"/>
                  <a:cs typeface="Arial"/>
                </a:rPr>
                <a:t>20 例标准考卷（Golden Set）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848083" y="485394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B7520E"/>
                  </a:solidFill>
                  <a:latin typeface="Arial"/>
                  <a:ea typeface="Microsoft YaHei"/>
                  <a:cs typeface="Arial"/>
                </a:rPr>
                <a:t>未完成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041642" y="48834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7534A"/>
                  </a:solidFill>
                  <a:latin typeface="Arial"/>
                  <a:ea typeface="Microsoft YaHei"/>
                  <a:cs typeface="Arial"/>
                </a:rPr>
                <a:t>等真实访谈素材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00456" y="5524500"/>
            <a:ext cx="11536528" cy="557784"/>
            <a:chOff x="600456" y="5524500"/>
            <a:chExt cx="11536528" cy="557784"/>
          </a:xfrm>
        </p:grpSpPr>
        <p:sp>
          <p:nvSpPr>
            <p:cNvPr id="40" name="Line 40"/>
            <p:cNvSpPr/>
            <p:nvPr/>
          </p:nvSpPr>
          <p:spPr>
            <a:xfrm>
              <a:off x="609600" y="55245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ECE9E1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00456" y="5730240"/>
              <a:ext cx="115365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1414"/>
                  </a:solidFill>
                  <a:latin typeface="Arial"/>
                  <a:ea typeface="Microsoft YaHei"/>
                  <a:cs typeface="Arial"/>
                </a:rPr>
                <a:t>市场还在验证期（</a:t>
              </a:r>
              <a:r>
                <a:rPr lang="en-US" sz="1800" b="1" dirty="0">
                  <a:solidFill>
                    <a:srgbClr val="D5451B"/>
                  </a:solidFill>
                  <a:latin typeface="Arial"/>
                  <a:ea typeface="Arial"/>
                  <a:cs typeface="Arial"/>
                </a:rPr>
                <a:t>E0–E1</a:t>
              </a:r>
              <a:r>
                <a:rPr lang="zh-CN" sz="1800" dirty="0">
                  <a:solidFill>
                    <a:srgbClr val="141414"/>
                  </a:solidFill>
                  <a:latin typeface="Arial"/>
                  <a:ea typeface="Microsoft YaHei"/>
                  <a:cs typeface="Arial"/>
                </a:rPr>
                <a:t>）：方向有旁证，「店家真愿意掏钱」还没被证明——这是下一步最优先的事。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04266" y="6497002"/>
            <a:ext cx="10983468" cy="205359"/>
            <a:chOff x="604266" y="6497002"/>
            <a:chExt cx="10983468" cy="205359"/>
          </a:xfrm>
        </p:grpSpPr>
        <p:sp>
          <p:nvSpPr>
            <p:cNvPr id="43" name="TextBox 43"/>
            <p:cNvSpPr txBox="1"/>
            <p:nvPr/>
          </p:nvSpPr>
          <p:spPr>
            <a:xfrm>
              <a:off x="604266" y="6497002"/>
              <a:ext cx="16586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857A"/>
                  </a:solidFill>
                  <a:latin typeface="Arial"/>
                  <a:ea typeface="Microsoft YaHei"/>
                  <a:cs typeface="Arial"/>
                </a:rPr>
                <a:t>Arrival Ready · 迎客验收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103540" y="64970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8B857A"/>
                  </a:solidFill>
                  <a:latin typeface="Arial"/>
                  <a:ea typeface="Arial"/>
                  <a:cs typeface="Arial"/>
                </a:rPr>
                <a:t>10 / 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90550" y="534352"/>
            <a:ext cx="7806538" cy="2214182"/>
            <a:chOff x="590550" y="534352"/>
            <a:chExt cx="7806538" cy="2214182"/>
          </a:xfrm>
        </p:grpSpPr>
        <p:sp>
          <p:nvSpPr>
            <p:cNvPr id="3" name="Rectangle 3"/>
            <p:cNvSpPr/>
            <p:nvPr/>
          </p:nvSpPr>
          <p:spPr>
            <a:xfrm>
              <a:off x="609600" y="552450"/>
              <a:ext cx="95250" cy="95250"/>
            </a:xfrm>
            <a:prstGeom prst="rect">
              <a:avLst/>
            </a:prstGeom>
            <a:solidFill>
              <a:srgbClr val="D5451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813816" y="534352"/>
              <a:ext cx="22665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8B857A"/>
                  </a:solidFill>
                  <a:latin typeface="Arial"/>
                  <a:ea typeface="Microsoft YaHei"/>
                  <a:cs typeface="Arial"/>
                </a:rPr>
                <a:t>ARRIVAL READY · 迎客验收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0550" y="1348740"/>
              <a:ext cx="7501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111111"/>
                  </a:solidFill>
                  <a:latin typeface="Arial"/>
                  <a:ea typeface="Microsoft YaHei"/>
                  <a:cs typeface="Arial"/>
                </a:rPr>
                <a:t>游客还没到，</a:t>
              </a:r>
              <a:r>
                <a:rPr lang="zh-CN" sz="4800" b="1" dirty="0">
                  <a:solidFill>
                    <a:srgbClr val="D5451B"/>
                  </a:solidFill>
                  <a:latin typeface="Arial"/>
                  <a:ea typeface="Microsoft YaHei"/>
                  <a:cs typeface="Arial"/>
                </a:rPr>
                <a:t>功课先补齐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628650" y="2114550"/>
              <a:ext cx="457200" cy="57150"/>
            </a:xfrm>
            <a:prstGeom prst="rect">
              <a:avLst/>
            </a:prstGeom>
            <a:solidFill>
              <a:srgbClr val="D5451B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00456" y="2396490"/>
              <a:ext cx="77966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57534A"/>
                  </a:solidFill>
                  <a:latin typeface="Arial"/>
                  <a:ea typeface="Microsoft YaHei"/>
                  <a:cs typeface="Arial"/>
                </a:rPr>
                <a:t>我们不是再做一款外国游客助手，我们帮城市里的店——准备好接住他们。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00456" y="3063240"/>
            <a:ext cx="5652211" cy="1847469"/>
            <a:chOff x="600456" y="3063240"/>
            <a:chExt cx="5652211" cy="1847469"/>
          </a:xfrm>
        </p:grpSpPr>
        <p:sp>
          <p:nvSpPr>
            <p:cNvPr id="9" name="TextBox 9"/>
            <p:cNvSpPr txBox="1"/>
            <p:nvPr/>
          </p:nvSpPr>
          <p:spPr>
            <a:xfrm>
              <a:off x="600456" y="3063240"/>
              <a:ext cx="23081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11111"/>
                  </a:solidFill>
                  <a:latin typeface="Arial"/>
                  <a:ea typeface="Microsoft YaHei"/>
                  <a:cs typeface="Arial"/>
                </a:rPr>
                <a:t>现场就能跑，三步：</a:t>
              </a:r>
            </a:p>
          </p:txBody>
        </p:sp>
        <p:grpSp>
          <p:nvGrpSpPr>
            <p:cNvPr id="14" name="Group 14"/>
            <p:cNvGrpSpPr/>
            <p:nvPr/>
          </p:nvGrpSpPr>
          <p:grpSpPr>
            <a:xfrm>
              <a:off x="638175" y="3543300"/>
              <a:ext cx="171450" cy="152400"/>
              <a:chOff x="638175" y="3543300"/>
              <a:chExt cx="171450" cy="1524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638175" y="3543300"/>
                <a:ext cx="17145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76200">
                    <a:moveTo>
                      <a:pt x="0" y="28575"/>
                    </a:moveTo>
                    <a:cubicBezTo>
                      <a:pt x="0" y="12793"/>
                      <a:pt x="12793" y="0"/>
                      <a:pt x="28575" y="0"/>
                    </a:cubicBezTo>
                    <a:lnTo>
                      <a:pt x="142875" y="0"/>
                    </a:lnTo>
                    <a:cubicBezTo>
                      <a:pt x="158657" y="0"/>
                      <a:pt x="171450" y="12793"/>
                      <a:pt x="171450" y="28575"/>
                    </a:cubicBezTo>
                    <a:lnTo>
                      <a:pt x="171450" y="47625"/>
                    </a:lnTo>
                    <a:cubicBezTo>
                      <a:pt x="171450" y="63407"/>
                      <a:pt x="158657" y="76200"/>
                      <a:pt x="142875" y="76200"/>
                    </a:cubicBezTo>
                    <a:lnTo>
                      <a:pt x="28575" y="76200"/>
                    </a:lnTo>
                    <a:cubicBezTo>
                      <a:pt x="12793" y="76200"/>
                      <a:pt x="0" y="63407"/>
                      <a:pt x="0" y="47625"/>
                    </a:cubicBezTo>
                  </a:path>
                </a:pathLst>
              </a:custGeom>
              <a:noFill/>
              <a:ln w="19050">
                <a:solidFill>
                  <a:srgbClr val="274C77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638175" y="3619500"/>
                <a:ext cx="17145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76200">
                    <a:moveTo>
                      <a:pt x="0" y="28575"/>
                    </a:moveTo>
                    <a:cubicBezTo>
                      <a:pt x="0" y="12793"/>
                      <a:pt x="12793" y="0"/>
                      <a:pt x="28575" y="0"/>
                    </a:cubicBezTo>
                    <a:lnTo>
                      <a:pt x="142875" y="0"/>
                    </a:lnTo>
                    <a:cubicBezTo>
                      <a:pt x="158657" y="0"/>
                      <a:pt x="171450" y="12793"/>
                      <a:pt x="171450" y="28575"/>
                    </a:cubicBezTo>
                    <a:lnTo>
                      <a:pt x="171450" y="47625"/>
                    </a:lnTo>
                    <a:cubicBezTo>
                      <a:pt x="171450" y="63407"/>
                      <a:pt x="158657" y="76200"/>
                      <a:pt x="142875" y="76200"/>
                    </a:cubicBezTo>
                    <a:lnTo>
                      <a:pt x="28575" y="76200"/>
                    </a:lnTo>
                    <a:cubicBezTo>
                      <a:pt x="12793" y="76200"/>
                      <a:pt x="0" y="63407"/>
                      <a:pt x="0" y="47625"/>
                    </a:cubicBezTo>
                    <a:lnTo>
                      <a:pt x="0" y="28575"/>
                    </a:lnTo>
                  </a:path>
                </a:pathLst>
              </a:custGeom>
              <a:noFill/>
              <a:ln w="19050">
                <a:solidFill>
                  <a:srgbClr val="274C77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676275" y="35814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95"/>
                    </a:lnTo>
                  </a:path>
                </a:pathLst>
              </a:custGeom>
              <a:noFill/>
              <a:ln w="19050">
                <a:solidFill>
                  <a:srgbClr val="274C77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676275" y="36576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95"/>
                    </a:lnTo>
                  </a:path>
                </a:pathLst>
              </a:custGeom>
              <a:noFill/>
              <a:ln w="19050">
                <a:solidFill>
                  <a:srgbClr val="274C77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943356" y="3491865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1414"/>
                  </a:solidFill>
                  <a:latin typeface="Arial"/>
                  <a:ea typeface="Microsoft YaHei"/>
                  <a:cs typeface="Arial"/>
                </a:rPr>
                <a:t>起全栈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041904" y="3547110"/>
              <a:ext cx="25484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57534A"/>
                  </a:solidFill>
                  <a:latin typeface="Consolas"/>
                  <a:ea typeface="Consolas"/>
                  <a:cs typeface="Consolas"/>
                </a:rPr>
                <a:t>powershell scripts\dev-e2e.ps1</a:t>
              </a:r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638175" y="4067175"/>
              <a:ext cx="171450" cy="180975"/>
              <a:chOff x="638175" y="4067175"/>
              <a:chExt cx="171450" cy="180975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638175" y="4238625"/>
                <a:ext cx="1714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9525">
                    <a:moveTo>
                      <a:pt x="0" y="0"/>
                    </a:moveTo>
                    <a:lnTo>
                      <a:pt x="171450" y="0"/>
                    </a:lnTo>
                  </a:path>
                </a:pathLst>
              </a:custGeom>
              <a:noFill/>
              <a:ln w="19050">
                <a:solidFill>
                  <a:srgbClr val="274C77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638175" y="4067175"/>
                <a:ext cx="17145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76200">
                    <a:moveTo>
                      <a:pt x="0" y="38100"/>
                    </a:moveTo>
                    <a:lnTo>
                      <a:pt x="0" y="47625"/>
                    </a:lnTo>
                    <a:cubicBezTo>
                      <a:pt x="0" y="63407"/>
                      <a:pt x="12793" y="76200"/>
                      <a:pt x="28575" y="76200"/>
                    </a:cubicBezTo>
                    <a:cubicBezTo>
                      <a:pt x="44357" y="76200"/>
                      <a:pt x="57150" y="63407"/>
                      <a:pt x="57150" y="47625"/>
                    </a:cubicBezTo>
                    <a:lnTo>
                      <a:pt x="57150" y="38100"/>
                    </a:lnTo>
                    <a:moveTo>
                      <a:pt x="57150" y="47625"/>
                    </a:moveTo>
                    <a:cubicBezTo>
                      <a:pt x="57150" y="63407"/>
                      <a:pt x="69943" y="76200"/>
                      <a:pt x="85725" y="76200"/>
                    </a:cubicBezTo>
                    <a:cubicBezTo>
                      <a:pt x="101507" y="76200"/>
                      <a:pt x="114300" y="63407"/>
                      <a:pt x="114300" y="47625"/>
                    </a:cubicBezTo>
                    <a:lnTo>
                      <a:pt x="114300" y="38100"/>
                    </a:lnTo>
                    <a:moveTo>
                      <a:pt x="114300" y="47625"/>
                    </a:moveTo>
                    <a:cubicBezTo>
                      <a:pt x="114300" y="63407"/>
                      <a:pt x="127093" y="76200"/>
                      <a:pt x="142875" y="76200"/>
                    </a:cubicBezTo>
                    <a:cubicBezTo>
                      <a:pt x="158657" y="76200"/>
                      <a:pt x="171450" y="63407"/>
                      <a:pt x="171450" y="47625"/>
                    </a:cubicBezTo>
                    <a:lnTo>
                      <a:pt x="171450" y="38100"/>
                    </a:lnTo>
                    <a:lnTo>
                      <a:pt x="0" y="38100"/>
                    </a:lnTo>
                    <a:lnTo>
                      <a:pt x="19050" y="0"/>
                    </a:lnTo>
                    <a:lnTo>
                      <a:pt x="152400" y="0"/>
                    </a:lnTo>
                    <a:lnTo>
                      <a:pt x="171450" y="38100"/>
                    </a:lnTo>
                  </a:path>
                </a:pathLst>
              </a:custGeom>
              <a:noFill/>
              <a:ln w="19050">
                <a:solidFill>
                  <a:srgbClr val="274C77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657225" y="4141946"/>
                <a:ext cx="9525" cy="9667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6679">
                    <a:moveTo>
                      <a:pt x="0" y="96679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274C77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790575" y="4141946"/>
                <a:ext cx="9525" cy="9667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6679">
                    <a:moveTo>
                      <a:pt x="0" y="96679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274C77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695325" y="4181475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57150"/>
                    </a:move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lnTo>
                      <a:pt x="38100" y="0"/>
                    </a:lnTo>
                    <a:cubicBezTo>
                      <a:pt x="48621" y="0"/>
                      <a:pt x="57150" y="8529"/>
                      <a:pt x="57150" y="19050"/>
                    </a:cubicBezTo>
                    <a:lnTo>
                      <a:pt x="57150" y="57150"/>
                    </a:lnTo>
                  </a:path>
                </a:pathLst>
              </a:custGeom>
              <a:noFill/>
              <a:ln w="19050">
                <a:solidFill>
                  <a:srgbClr val="274C77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943356" y="4025265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1414"/>
                  </a:solidFill>
                  <a:latin typeface="Arial"/>
                  <a:ea typeface="Microsoft YaHei"/>
                  <a:cs typeface="Arial"/>
                </a:rPr>
                <a:t>灌种子数据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041904" y="4080510"/>
              <a:ext cx="236265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57534A"/>
                  </a:solidFill>
                  <a:latin typeface="Consolas"/>
                  <a:ea typeface="Consolas"/>
                  <a:cs typeface="Consolas"/>
                </a:rPr>
                <a:t>python scripts\seed_demo.py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657225" y="4629150"/>
              <a:ext cx="133350" cy="114300"/>
              <a:chOff x="657225" y="4629150"/>
              <a:chExt cx="133350" cy="1143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657225" y="4686300"/>
                <a:ext cx="1333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9525">
                    <a:moveTo>
                      <a:pt x="0" y="0"/>
                    </a:moveTo>
                    <a:lnTo>
                      <a:pt x="133350" y="0"/>
                    </a:lnTo>
                  </a:path>
                </a:pathLst>
              </a:custGeom>
              <a:noFill/>
              <a:ln w="19050">
                <a:solidFill>
                  <a:srgbClr val="274C77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733425" y="468630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57150"/>
                    </a:move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274C77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733425" y="462915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0"/>
                    </a:moveTo>
                    <a:lnTo>
                      <a:pt x="57150" y="57150"/>
                    </a:lnTo>
                  </a:path>
                </a:pathLst>
              </a:custGeom>
              <a:noFill/>
              <a:ln w="19050">
                <a:solidFill>
                  <a:srgbClr val="274C77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943356" y="4558665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1414"/>
                  </a:solidFill>
                  <a:latin typeface="Arial"/>
                  <a:ea typeface="Microsoft YaHei"/>
                  <a:cs typeface="Arial"/>
                </a:rPr>
                <a:t>进系统走一遍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041904" y="4613910"/>
              <a:ext cx="32107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7534A"/>
                  </a:solidFill>
                  <a:latin typeface="Consolas"/>
                  <a:ea typeface="Microsoft YaHei"/>
                  <a:cs typeface="Consolas"/>
                </a:rPr>
                <a:t>localhost:3000 开发者登录 · 动线约 8 分钟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8134350" y="3486150"/>
            <a:ext cx="3467100" cy="1943481"/>
            <a:chOff x="8134350" y="3486150"/>
            <a:chExt cx="3467100" cy="1943481"/>
          </a:xfrm>
        </p:grpSpPr>
        <p:sp>
          <p:nvSpPr>
            <p:cNvPr id="32" name="Rectangle 32"/>
            <p:cNvSpPr/>
            <p:nvPr/>
          </p:nvSpPr>
          <p:spPr>
            <a:xfrm>
              <a:off x="8134350" y="3486150"/>
              <a:ext cx="3467100" cy="1571625"/>
            </a:xfrm>
            <a:prstGeom prst="rect">
              <a:avLst/>
            </a:prstGeom>
            <a:noFill/>
            <a:ln w="19050">
              <a:solidFill>
                <a:srgbClr val="111111"/>
              </a:solidFill>
            </a:ln>
          </p:spPr>
        </p:sp>
        <p:pic>
          <p:nvPicPr>
            <p:cNvPr id="33" name="Image 3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56058" y="3505200"/>
              <a:ext cx="3423684" cy="1533525"/>
            </a:xfrm>
            <a:prstGeom prst="rect">
              <a:avLst/>
            </a:prstGeom>
          </p:spPr>
        </p:pic>
        <p:sp>
          <p:nvSpPr>
            <p:cNvPr id="34" name="TextBox 34"/>
            <p:cNvSpPr txBox="1"/>
            <p:nvPr/>
          </p:nvSpPr>
          <p:spPr>
            <a:xfrm>
              <a:off x="8541004" y="5194935"/>
              <a:ext cx="26537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8B857A"/>
                  </a:solidFill>
                  <a:latin typeface="Arial"/>
                  <a:ea typeface="Microsoft YaHei"/>
                  <a:cs typeface="Arial"/>
                </a:rPr>
                <a:t>全链路真实可跑（Dashboard 实况）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09600" y="5715000"/>
            <a:ext cx="10978134" cy="473011"/>
            <a:chOff x="609600" y="5715000"/>
            <a:chExt cx="10978134" cy="473011"/>
          </a:xfrm>
        </p:grpSpPr>
        <p:sp>
          <p:nvSpPr>
            <p:cNvPr id="36" name="Line 36"/>
            <p:cNvSpPr/>
            <p:nvPr/>
          </p:nvSpPr>
          <p:spPr>
            <a:xfrm>
              <a:off x="609600" y="5715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ECE9E1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1103540" y="59826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8B857A"/>
                  </a:solidFill>
                  <a:latin typeface="Arial"/>
                  <a:ea typeface="Arial"/>
                  <a:cs typeface="Arial"/>
                </a:rPr>
                <a:t>11 / 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2026-09-08T05:50:58Z</dcterms:created>
  <dcterms:modified xsi:type="dcterms:W3CDTF">2026-09-08T05:50:58Z</dcterms:modified>
  <cp:category/>
  <cp:contentStatus/>
</cp:coreProperties>
</file>